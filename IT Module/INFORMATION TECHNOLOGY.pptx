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89" r:id="rId4"/>
    <p:sldId id="290" r:id="rId5"/>
    <p:sldId id="26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27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7" r:id="rId33"/>
    <p:sldId id="316" r:id="rId34"/>
    <p:sldId id="31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995"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B27C5-2D73-4F08-818E-54913212A4F7}" type="doc">
      <dgm:prSet loTypeId="urn:microsoft.com/office/officeart/2005/8/layout/cycle2" loCatId="cycle" qsTypeId="urn:microsoft.com/office/officeart/2005/8/quickstyle/simple1" qsCatId="simple" csTypeId="urn:microsoft.com/office/officeart/2005/8/colors/accent0_3" csCatId="mainScheme" phldr="1"/>
      <dgm:spPr/>
      <dgm:t>
        <a:bodyPr/>
        <a:lstStyle/>
        <a:p>
          <a:endParaRPr lang="en-IN"/>
        </a:p>
      </dgm:t>
    </dgm:pt>
    <dgm:pt modelId="{C487D6B6-10C3-4780-B51C-71ACB6DCA958}">
      <dgm:prSet phldrT="[Text]"/>
      <dgm:spPr/>
      <dgm:t>
        <a:bodyPr/>
        <a:lstStyle/>
        <a:p>
          <a:r>
            <a:rPr lang="en-US" b="1" dirty="0"/>
            <a:t>Data Creation</a:t>
          </a:r>
          <a:endParaRPr lang="en-IN" dirty="0"/>
        </a:p>
      </dgm:t>
    </dgm:pt>
    <dgm:pt modelId="{3E7E6D8F-4B9E-4EBC-9D52-239A73D7B24F}" type="parTrans" cxnId="{D58D9186-1455-4677-A244-3EFFEC187837}">
      <dgm:prSet/>
      <dgm:spPr/>
      <dgm:t>
        <a:bodyPr/>
        <a:lstStyle/>
        <a:p>
          <a:endParaRPr lang="en-IN"/>
        </a:p>
      </dgm:t>
    </dgm:pt>
    <dgm:pt modelId="{C6C472BF-98BA-4585-B2AC-54231ADACA98}" type="sibTrans" cxnId="{D58D9186-1455-4677-A244-3EFFEC187837}">
      <dgm:prSet/>
      <dgm:spPr/>
      <dgm:t>
        <a:bodyPr/>
        <a:lstStyle/>
        <a:p>
          <a:endParaRPr lang="en-IN"/>
        </a:p>
      </dgm:t>
    </dgm:pt>
    <dgm:pt modelId="{A6B20372-63DC-446D-AA52-C23983D3B3DD}">
      <dgm:prSet phldrT="[Text]"/>
      <dgm:spPr/>
      <dgm:t>
        <a:bodyPr/>
        <a:lstStyle/>
        <a:p>
          <a:r>
            <a:rPr lang="en-US" b="1" dirty="0"/>
            <a:t>Data Storage</a:t>
          </a:r>
          <a:endParaRPr lang="en-IN" dirty="0"/>
        </a:p>
      </dgm:t>
    </dgm:pt>
    <dgm:pt modelId="{2CD5562D-1670-4B18-BA68-C3F7338916C9}" type="parTrans" cxnId="{01204CF1-E65F-4901-8164-7162876A16C9}">
      <dgm:prSet/>
      <dgm:spPr/>
      <dgm:t>
        <a:bodyPr/>
        <a:lstStyle/>
        <a:p>
          <a:endParaRPr lang="en-IN"/>
        </a:p>
      </dgm:t>
    </dgm:pt>
    <dgm:pt modelId="{51027F09-1C49-4365-AFBE-1EE109000254}" type="sibTrans" cxnId="{01204CF1-E65F-4901-8164-7162876A16C9}">
      <dgm:prSet/>
      <dgm:spPr/>
      <dgm:t>
        <a:bodyPr/>
        <a:lstStyle/>
        <a:p>
          <a:endParaRPr lang="en-IN"/>
        </a:p>
      </dgm:t>
    </dgm:pt>
    <dgm:pt modelId="{8663C0A2-BEBF-46E9-80FE-76063A6F1B06}">
      <dgm:prSet phldrT="[Text]"/>
      <dgm:spPr/>
      <dgm:t>
        <a:bodyPr/>
        <a:lstStyle/>
        <a:p>
          <a:r>
            <a:rPr lang="en-US" b="1" dirty="0"/>
            <a:t>Data Usage</a:t>
          </a:r>
          <a:endParaRPr lang="en-IN" dirty="0"/>
        </a:p>
      </dgm:t>
    </dgm:pt>
    <dgm:pt modelId="{4F8A74B9-AA39-4E39-BB4E-3923C492C18E}" type="parTrans" cxnId="{1FFBC133-FA26-48ED-8445-536EAC147247}">
      <dgm:prSet/>
      <dgm:spPr/>
      <dgm:t>
        <a:bodyPr/>
        <a:lstStyle/>
        <a:p>
          <a:endParaRPr lang="en-IN"/>
        </a:p>
      </dgm:t>
    </dgm:pt>
    <dgm:pt modelId="{837008C3-D7DF-4433-AE05-8DFEA78CBBB3}" type="sibTrans" cxnId="{1FFBC133-FA26-48ED-8445-536EAC147247}">
      <dgm:prSet/>
      <dgm:spPr/>
      <dgm:t>
        <a:bodyPr/>
        <a:lstStyle/>
        <a:p>
          <a:endParaRPr lang="en-IN"/>
        </a:p>
      </dgm:t>
    </dgm:pt>
    <dgm:pt modelId="{5130D671-E14F-45F5-8F1E-58872F23096D}">
      <dgm:prSet phldrT="[Text]"/>
      <dgm:spPr/>
      <dgm:t>
        <a:bodyPr/>
        <a:lstStyle/>
        <a:p>
          <a:r>
            <a:rPr lang="en-US" b="1" dirty="0"/>
            <a:t>Data Archiving</a:t>
          </a:r>
          <a:endParaRPr lang="en-IN" dirty="0"/>
        </a:p>
      </dgm:t>
    </dgm:pt>
    <dgm:pt modelId="{C091993B-6C87-4D42-80F0-70B5D4AD85A4}" type="parTrans" cxnId="{D109F28D-5658-4F8D-B677-B0166227DA83}">
      <dgm:prSet/>
      <dgm:spPr/>
      <dgm:t>
        <a:bodyPr/>
        <a:lstStyle/>
        <a:p>
          <a:endParaRPr lang="en-IN"/>
        </a:p>
      </dgm:t>
    </dgm:pt>
    <dgm:pt modelId="{4C3B0B96-3DF1-4A90-9A26-2B39E24AAD64}" type="sibTrans" cxnId="{D109F28D-5658-4F8D-B677-B0166227DA83}">
      <dgm:prSet/>
      <dgm:spPr/>
      <dgm:t>
        <a:bodyPr/>
        <a:lstStyle/>
        <a:p>
          <a:endParaRPr lang="en-IN"/>
        </a:p>
      </dgm:t>
    </dgm:pt>
    <dgm:pt modelId="{CE760A8A-6124-486C-9B8D-8E5E950B168A}">
      <dgm:prSet phldrT="[Text]"/>
      <dgm:spPr/>
      <dgm:t>
        <a:bodyPr/>
        <a:lstStyle/>
        <a:p>
          <a:r>
            <a:rPr lang="en-US" b="1" dirty="0"/>
            <a:t>Data Deletion</a:t>
          </a:r>
          <a:endParaRPr lang="en-IN" dirty="0"/>
        </a:p>
      </dgm:t>
    </dgm:pt>
    <dgm:pt modelId="{1B2984B2-3BFB-45B2-B90F-98C0E2B4489F}" type="parTrans" cxnId="{2C02A19C-F6D1-4E16-BE8B-01FAAE57CEEA}">
      <dgm:prSet/>
      <dgm:spPr/>
      <dgm:t>
        <a:bodyPr/>
        <a:lstStyle/>
        <a:p>
          <a:endParaRPr lang="en-IN"/>
        </a:p>
      </dgm:t>
    </dgm:pt>
    <dgm:pt modelId="{16046481-6874-4B36-88EC-AE9476A229E1}" type="sibTrans" cxnId="{2C02A19C-F6D1-4E16-BE8B-01FAAE57CEEA}">
      <dgm:prSet/>
      <dgm:spPr/>
      <dgm:t>
        <a:bodyPr/>
        <a:lstStyle/>
        <a:p>
          <a:endParaRPr lang="en-IN"/>
        </a:p>
      </dgm:t>
    </dgm:pt>
    <dgm:pt modelId="{78C0B7E1-9CCD-4DC4-A088-8D21FD55D104}" type="pres">
      <dgm:prSet presAssocID="{232B27C5-2D73-4F08-818E-54913212A4F7}" presName="cycle" presStyleCnt="0">
        <dgm:presLayoutVars>
          <dgm:dir/>
          <dgm:resizeHandles val="exact"/>
        </dgm:presLayoutVars>
      </dgm:prSet>
      <dgm:spPr/>
    </dgm:pt>
    <dgm:pt modelId="{A8D311FD-9E27-4EAE-9908-D1924E606D88}" type="pres">
      <dgm:prSet presAssocID="{C487D6B6-10C3-4780-B51C-71ACB6DCA958}" presName="node" presStyleLbl="node1" presStyleIdx="0" presStyleCnt="5">
        <dgm:presLayoutVars>
          <dgm:bulletEnabled val="1"/>
        </dgm:presLayoutVars>
      </dgm:prSet>
      <dgm:spPr/>
    </dgm:pt>
    <dgm:pt modelId="{67894874-C57E-48E2-A430-D8B793EF1D59}" type="pres">
      <dgm:prSet presAssocID="{C6C472BF-98BA-4585-B2AC-54231ADACA98}" presName="sibTrans" presStyleLbl="sibTrans2D1" presStyleIdx="0" presStyleCnt="5"/>
      <dgm:spPr/>
    </dgm:pt>
    <dgm:pt modelId="{DE482577-7FB5-4284-A66F-CBA85FB98150}" type="pres">
      <dgm:prSet presAssocID="{C6C472BF-98BA-4585-B2AC-54231ADACA98}" presName="connectorText" presStyleLbl="sibTrans2D1" presStyleIdx="0" presStyleCnt="5"/>
      <dgm:spPr/>
    </dgm:pt>
    <dgm:pt modelId="{B7E61EA8-5662-4D49-9F27-C538418605E4}" type="pres">
      <dgm:prSet presAssocID="{A6B20372-63DC-446D-AA52-C23983D3B3DD}" presName="node" presStyleLbl="node1" presStyleIdx="1" presStyleCnt="5">
        <dgm:presLayoutVars>
          <dgm:bulletEnabled val="1"/>
        </dgm:presLayoutVars>
      </dgm:prSet>
      <dgm:spPr/>
    </dgm:pt>
    <dgm:pt modelId="{E5CA5ABA-CC2C-4B40-BDC6-9EDB9C1727AA}" type="pres">
      <dgm:prSet presAssocID="{51027F09-1C49-4365-AFBE-1EE109000254}" presName="sibTrans" presStyleLbl="sibTrans2D1" presStyleIdx="1" presStyleCnt="5"/>
      <dgm:spPr/>
    </dgm:pt>
    <dgm:pt modelId="{A76B11C7-945B-453A-ABC4-6429EA745707}" type="pres">
      <dgm:prSet presAssocID="{51027F09-1C49-4365-AFBE-1EE109000254}" presName="connectorText" presStyleLbl="sibTrans2D1" presStyleIdx="1" presStyleCnt="5"/>
      <dgm:spPr/>
    </dgm:pt>
    <dgm:pt modelId="{499C0372-71DE-4133-867A-5F3370865D49}" type="pres">
      <dgm:prSet presAssocID="{8663C0A2-BEBF-46E9-80FE-76063A6F1B06}" presName="node" presStyleLbl="node1" presStyleIdx="2" presStyleCnt="5">
        <dgm:presLayoutVars>
          <dgm:bulletEnabled val="1"/>
        </dgm:presLayoutVars>
      </dgm:prSet>
      <dgm:spPr/>
    </dgm:pt>
    <dgm:pt modelId="{04AF2711-A154-4A56-BB6A-4532D299C7FB}" type="pres">
      <dgm:prSet presAssocID="{837008C3-D7DF-4433-AE05-8DFEA78CBBB3}" presName="sibTrans" presStyleLbl="sibTrans2D1" presStyleIdx="2" presStyleCnt="5"/>
      <dgm:spPr/>
    </dgm:pt>
    <dgm:pt modelId="{B2E82C54-9EFC-412A-9A46-ED7AEC602A77}" type="pres">
      <dgm:prSet presAssocID="{837008C3-D7DF-4433-AE05-8DFEA78CBBB3}" presName="connectorText" presStyleLbl="sibTrans2D1" presStyleIdx="2" presStyleCnt="5"/>
      <dgm:spPr/>
    </dgm:pt>
    <dgm:pt modelId="{1458B172-272A-4250-93D0-7A4FD708D133}" type="pres">
      <dgm:prSet presAssocID="{5130D671-E14F-45F5-8F1E-58872F23096D}" presName="node" presStyleLbl="node1" presStyleIdx="3" presStyleCnt="5">
        <dgm:presLayoutVars>
          <dgm:bulletEnabled val="1"/>
        </dgm:presLayoutVars>
      </dgm:prSet>
      <dgm:spPr/>
    </dgm:pt>
    <dgm:pt modelId="{D963A973-E589-4BD0-89C5-AA638D63A6CA}" type="pres">
      <dgm:prSet presAssocID="{4C3B0B96-3DF1-4A90-9A26-2B39E24AAD64}" presName="sibTrans" presStyleLbl="sibTrans2D1" presStyleIdx="3" presStyleCnt="5"/>
      <dgm:spPr/>
    </dgm:pt>
    <dgm:pt modelId="{083E1DD0-330C-4BAC-A14E-C3A9459BBED0}" type="pres">
      <dgm:prSet presAssocID="{4C3B0B96-3DF1-4A90-9A26-2B39E24AAD64}" presName="connectorText" presStyleLbl="sibTrans2D1" presStyleIdx="3" presStyleCnt="5"/>
      <dgm:spPr/>
    </dgm:pt>
    <dgm:pt modelId="{6A14088F-D473-40BF-AC8B-9992B353F4A8}" type="pres">
      <dgm:prSet presAssocID="{CE760A8A-6124-486C-9B8D-8E5E950B168A}" presName="node" presStyleLbl="node1" presStyleIdx="4" presStyleCnt="5">
        <dgm:presLayoutVars>
          <dgm:bulletEnabled val="1"/>
        </dgm:presLayoutVars>
      </dgm:prSet>
      <dgm:spPr/>
    </dgm:pt>
    <dgm:pt modelId="{C695463C-BBDE-45E3-AA24-327D2A307713}" type="pres">
      <dgm:prSet presAssocID="{16046481-6874-4B36-88EC-AE9476A229E1}" presName="sibTrans" presStyleLbl="sibTrans2D1" presStyleIdx="4" presStyleCnt="5"/>
      <dgm:spPr/>
    </dgm:pt>
    <dgm:pt modelId="{A5016CB8-1E5B-422E-AC70-1645F579B2E0}" type="pres">
      <dgm:prSet presAssocID="{16046481-6874-4B36-88EC-AE9476A229E1}" presName="connectorText" presStyleLbl="sibTrans2D1" presStyleIdx="4" presStyleCnt="5"/>
      <dgm:spPr/>
    </dgm:pt>
  </dgm:ptLst>
  <dgm:cxnLst>
    <dgm:cxn modelId="{BB87700B-FDC7-4B65-BA11-750BF7B19853}" type="presOf" srcId="{5130D671-E14F-45F5-8F1E-58872F23096D}" destId="{1458B172-272A-4250-93D0-7A4FD708D133}" srcOrd="0" destOrd="0" presId="urn:microsoft.com/office/officeart/2005/8/layout/cycle2"/>
    <dgm:cxn modelId="{D877E01F-D79A-4A56-9AA4-BC7C10A15886}" type="presOf" srcId="{CE760A8A-6124-486C-9B8D-8E5E950B168A}" destId="{6A14088F-D473-40BF-AC8B-9992B353F4A8}" srcOrd="0" destOrd="0" presId="urn:microsoft.com/office/officeart/2005/8/layout/cycle2"/>
    <dgm:cxn modelId="{BC419D24-791C-4D4D-8161-6E82F721C6B7}" type="presOf" srcId="{4C3B0B96-3DF1-4A90-9A26-2B39E24AAD64}" destId="{D963A973-E589-4BD0-89C5-AA638D63A6CA}" srcOrd="0" destOrd="0" presId="urn:microsoft.com/office/officeart/2005/8/layout/cycle2"/>
    <dgm:cxn modelId="{67ADA72E-3543-427D-A913-35439FCBB272}" type="presOf" srcId="{51027F09-1C49-4365-AFBE-1EE109000254}" destId="{A76B11C7-945B-453A-ABC4-6429EA745707}" srcOrd="1" destOrd="0" presId="urn:microsoft.com/office/officeart/2005/8/layout/cycle2"/>
    <dgm:cxn modelId="{3EA61E33-3089-4A19-94AE-416CB5E0C9BA}" type="presOf" srcId="{16046481-6874-4B36-88EC-AE9476A229E1}" destId="{C695463C-BBDE-45E3-AA24-327D2A307713}" srcOrd="0" destOrd="0" presId="urn:microsoft.com/office/officeart/2005/8/layout/cycle2"/>
    <dgm:cxn modelId="{1FFBC133-FA26-48ED-8445-536EAC147247}" srcId="{232B27C5-2D73-4F08-818E-54913212A4F7}" destId="{8663C0A2-BEBF-46E9-80FE-76063A6F1B06}" srcOrd="2" destOrd="0" parTransId="{4F8A74B9-AA39-4E39-BB4E-3923C492C18E}" sibTransId="{837008C3-D7DF-4433-AE05-8DFEA78CBBB3}"/>
    <dgm:cxn modelId="{14B91F36-AE5B-4559-B6E5-80F274AA2C98}" type="presOf" srcId="{8663C0A2-BEBF-46E9-80FE-76063A6F1B06}" destId="{499C0372-71DE-4133-867A-5F3370865D49}" srcOrd="0" destOrd="0" presId="urn:microsoft.com/office/officeart/2005/8/layout/cycle2"/>
    <dgm:cxn modelId="{7D327346-5CAA-4BA8-8B6F-C0409F136401}" type="presOf" srcId="{C6C472BF-98BA-4585-B2AC-54231ADACA98}" destId="{67894874-C57E-48E2-A430-D8B793EF1D59}" srcOrd="0" destOrd="0" presId="urn:microsoft.com/office/officeart/2005/8/layout/cycle2"/>
    <dgm:cxn modelId="{28078568-AE78-4DD6-9C09-2533E5B11AFC}" type="presOf" srcId="{C6C472BF-98BA-4585-B2AC-54231ADACA98}" destId="{DE482577-7FB5-4284-A66F-CBA85FB98150}" srcOrd="1" destOrd="0" presId="urn:microsoft.com/office/officeart/2005/8/layout/cycle2"/>
    <dgm:cxn modelId="{654EAB6E-C588-49B1-8A70-38AA0E0EFC4D}" type="presOf" srcId="{232B27C5-2D73-4F08-818E-54913212A4F7}" destId="{78C0B7E1-9CCD-4DC4-A088-8D21FD55D104}" srcOrd="0" destOrd="0" presId="urn:microsoft.com/office/officeart/2005/8/layout/cycle2"/>
    <dgm:cxn modelId="{5662AB6F-D485-4577-B786-BB3BE384CDE1}" type="presOf" srcId="{4C3B0B96-3DF1-4A90-9A26-2B39E24AAD64}" destId="{083E1DD0-330C-4BAC-A14E-C3A9459BBED0}" srcOrd="1" destOrd="0" presId="urn:microsoft.com/office/officeart/2005/8/layout/cycle2"/>
    <dgm:cxn modelId="{C9CFE470-3F87-4215-89B4-1CD24A16447D}" type="presOf" srcId="{837008C3-D7DF-4433-AE05-8DFEA78CBBB3}" destId="{04AF2711-A154-4A56-BB6A-4532D299C7FB}" srcOrd="0" destOrd="0" presId="urn:microsoft.com/office/officeart/2005/8/layout/cycle2"/>
    <dgm:cxn modelId="{466D4185-ED67-4CD6-8F75-069EB3AC17BA}" type="presOf" srcId="{837008C3-D7DF-4433-AE05-8DFEA78CBBB3}" destId="{B2E82C54-9EFC-412A-9A46-ED7AEC602A77}" srcOrd="1" destOrd="0" presId="urn:microsoft.com/office/officeart/2005/8/layout/cycle2"/>
    <dgm:cxn modelId="{D58D9186-1455-4677-A244-3EFFEC187837}" srcId="{232B27C5-2D73-4F08-818E-54913212A4F7}" destId="{C487D6B6-10C3-4780-B51C-71ACB6DCA958}" srcOrd="0" destOrd="0" parTransId="{3E7E6D8F-4B9E-4EBC-9D52-239A73D7B24F}" sibTransId="{C6C472BF-98BA-4585-B2AC-54231ADACA98}"/>
    <dgm:cxn modelId="{D109F28D-5658-4F8D-B677-B0166227DA83}" srcId="{232B27C5-2D73-4F08-818E-54913212A4F7}" destId="{5130D671-E14F-45F5-8F1E-58872F23096D}" srcOrd="3" destOrd="0" parTransId="{C091993B-6C87-4D42-80F0-70B5D4AD85A4}" sibTransId="{4C3B0B96-3DF1-4A90-9A26-2B39E24AAD64}"/>
    <dgm:cxn modelId="{44BAE797-6C2B-4B70-8DAD-FC2755040276}" type="presOf" srcId="{A6B20372-63DC-446D-AA52-C23983D3B3DD}" destId="{B7E61EA8-5662-4D49-9F27-C538418605E4}" srcOrd="0" destOrd="0" presId="urn:microsoft.com/office/officeart/2005/8/layout/cycle2"/>
    <dgm:cxn modelId="{2C02A19C-F6D1-4E16-BE8B-01FAAE57CEEA}" srcId="{232B27C5-2D73-4F08-818E-54913212A4F7}" destId="{CE760A8A-6124-486C-9B8D-8E5E950B168A}" srcOrd="4" destOrd="0" parTransId="{1B2984B2-3BFB-45B2-B90F-98C0E2B4489F}" sibTransId="{16046481-6874-4B36-88EC-AE9476A229E1}"/>
    <dgm:cxn modelId="{B1BD44AE-3D04-44A9-A297-2D62DFA13F7D}" type="presOf" srcId="{51027F09-1C49-4365-AFBE-1EE109000254}" destId="{E5CA5ABA-CC2C-4B40-BDC6-9EDB9C1727AA}" srcOrd="0" destOrd="0" presId="urn:microsoft.com/office/officeart/2005/8/layout/cycle2"/>
    <dgm:cxn modelId="{DE1D3DD6-F058-4D93-9334-AA02D53086C4}" type="presOf" srcId="{16046481-6874-4B36-88EC-AE9476A229E1}" destId="{A5016CB8-1E5B-422E-AC70-1645F579B2E0}" srcOrd="1" destOrd="0" presId="urn:microsoft.com/office/officeart/2005/8/layout/cycle2"/>
    <dgm:cxn modelId="{01204CF1-E65F-4901-8164-7162876A16C9}" srcId="{232B27C5-2D73-4F08-818E-54913212A4F7}" destId="{A6B20372-63DC-446D-AA52-C23983D3B3DD}" srcOrd="1" destOrd="0" parTransId="{2CD5562D-1670-4B18-BA68-C3F7338916C9}" sibTransId="{51027F09-1C49-4365-AFBE-1EE109000254}"/>
    <dgm:cxn modelId="{92695DF9-299F-4397-9CDF-C382BCD69EAF}" type="presOf" srcId="{C487D6B6-10C3-4780-B51C-71ACB6DCA958}" destId="{A8D311FD-9E27-4EAE-9908-D1924E606D88}" srcOrd="0" destOrd="0" presId="urn:microsoft.com/office/officeart/2005/8/layout/cycle2"/>
    <dgm:cxn modelId="{E6EA4C47-A291-49E8-9450-86922E912533}" type="presParOf" srcId="{78C0B7E1-9CCD-4DC4-A088-8D21FD55D104}" destId="{A8D311FD-9E27-4EAE-9908-D1924E606D88}" srcOrd="0" destOrd="0" presId="urn:microsoft.com/office/officeart/2005/8/layout/cycle2"/>
    <dgm:cxn modelId="{4883054E-E946-4A63-A726-26D5F0F88DB1}" type="presParOf" srcId="{78C0B7E1-9CCD-4DC4-A088-8D21FD55D104}" destId="{67894874-C57E-48E2-A430-D8B793EF1D59}" srcOrd="1" destOrd="0" presId="urn:microsoft.com/office/officeart/2005/8/layout/cycle2"/>
    <dgm:cxn modelId="{90E4CA4C-AF6E-4BA4-8D17-0630049604D1}" type="presParOf" srcId="{67894874-C57E-48E2-A430-D8B793EF1D59}" destId="{DE482577-7FB5-4284-A66F-CBA85FB98150}" srcOrd="0" destOrd="0" presId="urn:microsoft.com/office/officeart/2005/8/layout/cycle2"/>
    <dgm:cxn modelId="{C7A1B7E2-FD7A-45CA-9026-5D2752B1EF9C}" type="presParOf" srcId="{78C0B7E1-9CCD-4DC4-A088-8D21FD55D104}" destId="{B7E61EA8-5662-4D49-9F27-C538418605E4}" srcOrd="2" destOrd="0" presId="urn:microsoft.com/office/officeart/2005/8/layout/cycle2"/>
    <dgm:cxn modelId="{AD02BD77-CA14-4BFD-8DBF-D295A6500DBF}" type="presParOf" srcId="{78C0B7E1-9CCD-4DC4-A088-8D21FD55D104}" destId="{E5CA5ABA-CC2C-4B40-BDC6-9EDB9C1727AA}" srcOrd="3" destOrd="0" presId="urn:microsoft.com/office/officeart/2005/8/layout/cycle2"/>
    <dgm:cxn modelId="{4DC9F37A-1281-4AA4-8F66-9BE0FAB977FB}" type="presParOf" srcId="{E5CA5ABA-CC2C-4B40-BDC6-9EDB9C1727AA}" destId="{A76B11C7-945B-453A-ABC4-6429EA745707}" srcOrd="0" destOrd="0" presId="urn:microsoft.com/office/officeart/2005/8/layout/cycle2"/>
    <dgm:cxn modelId="{0EA0CDBF-687D-48CA-AF76-306C711697ED}" type="presParOf" srcId="{78C0B7E1-9CCD-4DC4-A088-8D21FD55D104}" destId="{499C0372-71DE-4133-867A-5F3370865D49}" srcOrd="4" destOrd="0" presId="urn:microsoft.com/office/officeart/2005/8/layout/cycle2"/>
    <dgm:cxn modelId="{113FFCC1-4D56-45A9-85EE-1D2CB9498B3D}" type="presParOf" srcId="{78C0B7E1-9CCD-4DC4-A088-8D21FD55D104}" destId="{04AF2711-A154-4A56-BB6A-4532D299C7FB}" srcOrd="5" destOrd="0" presId="urn:microsoft.com/office/officeart/2005/8/layout/cycle2"/>
    <dgm:cxn modelId="{8EF87F1E-356C-4CA6-82DF-6546C41F44E4}" type="presParOf" srcId="{04AF2711-A154-4A56-BB6A-4532D299C7FB}" destId="{B2E82C54-9EFC-412A-9A46-ED7AEC602A77}" srcOrd="0" destOrd="0" presId="urn:microsoft.com/office/officeart/2005/8/layout/cycle2"/>
    <dgm:cxn modelId="{D419DB01-F408-4C60-92F4-214541B1004B}" type="presParOf" srcId="{78C0B7E1-9CCD-4DC4-A088-8D21FD55D104}" destId="{1458B172-272A-4250-93D0-7A4FD708D133}" srcOrd="6" destOrd="0" presId="urn:microsoft.com/office/officeart/2005/8/layout/cycle2"/>
    <dgm:cxn modelId="{1352612A-E86A-42B0-B9CD-EB9B51707472}" type="presParOf" srcId="{78C0B7E1-9CCD-4DC4-A088-8D21FD55D104}" destId="{D963A973-E589-4BD0-89C5-AA638D63A6CA}" srcOrd="7" destOrd="0" presId="urn:microsoft.com/office/officeart/2005/8/layout/cycle2"/>
    <dgm:cxn modelId="{4C01703B-16BE-4541-B61B-5E9DAC33DFEA}" type="presParOf" srcId="{D963A973-E589-4BD0-89C5-AA638D63A6CA}" destId="{083E1DD0-330C-4BAC-A14E-C3A9459BBED0}" srcOrd="0" destOrd="0" presId="urn:microsoft.com/office/officeart/2005/8/layout/cycle2"/>
    <dgm:cxn modelId="{9A2B811A-61BD-42DF-B11C-6000F3215457}" type="presParOf" srcId="{78C0B7E1-9CCD-4DC4-A088-8D21FD55D104}" destId="{6A14088F-D473-40BF-AC8B-9992B353F4A8}" srcOrd="8" destOrd="0" presId="urn:microsoft.com/office/officeart/2005/8/layout/cycle2"/>
    <dgm:cxn modelId="{39796DE0-FC10-4A48-9207-55BA6C15C517}" type="presParOf" srcId="{78C0B7E1-9CCD-4DC4-A088-8D21FD55D104}" destId="{C695463C-BBDE-45E3-AA24-327D2A307713}" srcOrd="9" destOrd="0" presId="urn:microsoft.com/office/officeart/2005/8/layout/cycle2"/>
    <dgm:cxn modelId="{A2557E80-EE0E-462E-AABB-ECD61538AFD9}" type="presParOf" srcId="{C695463C-BBDE-45E3-AA24-327D2A307713}" destId="{A5016CB8-1E5B-422E-AC70-1645F579B2E0}"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311FD-9E27-4EAE-9908-D1924E606D88}">
      <dsp:nvSpPr>
        <dsp:cNvPr id="0" name=""/>
        <dsp:cNvSpPr/>
      </dsp:nvSpPr>
      <dsp:spPr>
        <a:xfrm>
          <a:off x="1587566" y="13341"/>
          <a:ext cx="1306378" cy="1306378"/>
        </a:xfrm>
        <a:prstGeom prst="ellipse">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Creation</a:t>
          </a:r>
          <a:endParaRPr lang="en-IN" sz="1300" kern="1200" dirty="0"/>
        </a:p>
      </dsp:txBody>
      <dsp:txXfrm>
        <a:off x="1778881" y="204656"/>
        <a:ext cx="923748" cy="923748"/>
      </dsp:txXfrm>
    </dsp:sp>
    <dsp:sp modelId="{67894874-C57E-48E2-A430-D8B793EF1D59}">
      <dsp:nvSpPr>
        <dsp:cNvPr id="0" name=""/>
        <dsp:cNvSpPr/>
      </dsp:nvSpPr>
      <dsp:spPr>
        <a:xfrm rot="2160000">
          <a:off x="2852628" y="1016743"/>
          <a:ext cx="347158" cy="4409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862573" y="1074315"/>
        <a:ext cx="243011" cy="264542"/>
      </dsp:txXfrm>
    </dsp:sp>
    <dsp:sp modelId="{B7E61EA8-5662-4D49-9F27-C538418605E4}">
      <dsp:nvSpPr>
        <dsp:cNvPr id="0" name=""/>
        <dsp:cNvSpPr/>
      </dsp:nvSpPr>
      <dsp:spPr>
        <a:xfrm>
          <a:off x="3174368" y="1166220"/>
          <a:ext cx="1306378" cy="1306378"/>
        </a:xfrm>
        <a:prstGeom prst="ellipse">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Storage</a:t>
          </a:r>
          <a:endParaRPr lang="en-IN" sz="1300" kern="1200" dirty="0"/>
        </a:p>
      </dsp:txBody>
      <dsp:txXfrm>
        <a:off x="3365683" y="1357535"/>
        <a:ext cx="923748" cy="923748"/>
      </dsp:txXfrm>
    </dsp:sp>
    <dsp:sp modelId="{E5CA5ABA-CC2C-4B40-BDC6-9EDB9C1727AA}">
      <dsp:nvSpPr>
        <dsp:cNvPr id="0" name=""/>
        <dsp:cNvSpPr/>
      </dsp:nvSpPr>
      <dsp:spPr>
        <a:xfrm rot="6480000">
          <a:off x="3353962" y="2522312"/>
          <a:ext cx="347158" cy="4409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3422127" y="2560967"/>
        <a:ext cx="243011" cy="264542"/>
      </dsp:txXfrm>
    </dsp:sp>
    <dsp:sp modelId="{499C0372-71DE-4133-867A-5F3370865D49}">
      <dsp:nvSpPr>
        <dsp:cNvPr id="0" name=""/>
        <dsp:cNvSpPr/>
      </dsp:nvSpPr>
      <dsp:spPr>
        <a:xfrm>
          <a:off x="2568264" y="3031618"/>
          <a:ext cx="1306378" cy="1306378"/>
        </a:xfrm>
        <a:prstGeom prst="ellipse">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Usage</a:t>
          </a:r>
          <a:endParaRPr lang="en-IN" sz="1300" kern="1200" dirty="0"/>
        </a:p>
      </dsp:txBody>
      <dsp:txXfrm>
        <a:off x="2759579" y="3222933"/>
        <a:ext cx="923748" cy="923748"/>
      </dsp:txXfrm>
    </dsp:sp>
    <dsp:sp modelId="{04AF2711-A154-4A56-BB6A-4532D299C7FB}">
      <dsp:nvSpPr>
        <dsp:cNvPr id="0" name=""/>
        <dsp:cNvSpPr/>
      </dsp:nvSpPr>
      <dsp:spPr>
        <a:xfrm rot="10800000">
          <a:off x="2077001" y="3464355"/>
          <a:ext cx="347158" cy="4409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2181148" y="3552535"/>
        <a:ext cx="243011" cy="264542"/>
      </dsp:txXfrm>
    </dsp:sp>
    <dsp:sp modelId="{1458B172-272A-4250-93D0-7A4FD708D133}">
      <dsp:nvSpPr>
        <dsp:cNvPr id="0" name=""/>
        <dsp:cNvSpPr/>
      </dsp:nvSpPr>
      <dsp:spPr>
        <a:xfrm>
          <a:off x="606869" y="3031618"/>
          <a:ext cx="1306378" cy="1306378"/>
        </a:xfrm>
        <a:prstGeom prst="ellipse">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Archiving</a:t>
          </a:r>
          <a:endParaRPr lang="en-IN" sz="1300" kern="1200" dirty="0"/>
        </a:p>
      </dsp:txBody>
      <dsp:txXfrm>
        <a:off x="798184" y="3222933"/>
        <a:ext cx="923748" cy="923748"/>
      </dsp:txXfrm>
    </dsp:sp>
    <dsp:sp modelId="{D963A973-E589-4BD0-89C5-AA638D63A6CA}">
      <dsp:nvSpPr>
        <dsp:cNvPr id="0" name=""/>
        <dsp:cNvSpPr/>
      </dsp:nvSpPr>
      <dsp:spPr>
        <a:xfrm rot="15120000">
          <a:off x="786463" y="2541001"/>
          <a:ext cx="347158" cy="4409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rot="10800000">
        <a:off x="854628" y="2678706"/>
        <a:ext cx="243011" cy="264542"/>
      </dsp:txXfrm>
    </dsp:sp>
    <dsp:sp modelId="{6A14088F-D473-40BF-AC8B-9992B353F4A8}">
      <dsp:nvSpPr>
        <dsp:cNvPr id="0" name=""/>
        <dsp:cNvSpPr/>
      </dsp:nvSpPr>
      <dsp:spPr>
        <a:xfrm>
          <a:off x="765" y="1166220"/>
          <a:ext cx="1306378" cy="1306378"/>
        </a:xfrm>
        <a:prstGeom prst="ellipse">
          <a:avLst/>
        </a:prstGeom>
        <a:solidFill>
          <a:schemeClr val="dk2">
            <a:hueOff val="0"/>
            <a:satOff val="0"/>
            <a:lumOff val="0"/>
            <a:alphaOff val="0"/>
          </a:schemeClr>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Deletion</a:t>
          </a:r>
          <a:endParaRPr lang="en-IN" sz="1300" kern="1200" dirty="0"/>
        </a:p>
      </dsp:txBody>
      <dsp:txXfrm>
        <a:off x="192080" y="1357535"/>
        <a:ext cx="923748" cy="923748"/>
      </dsp:txXfrm>
    </dsp:sp>
    <dsp:sp modelId="{C695463C-BBDE-45E3-AA24-327D2A307713}">
      <dsp:nvSpPr>
        <dsp:cNvPr id="0" name=""/>
        <dsp:cNvSpPr/>
      </dsp:nvSpPr>
      <dsp:spPr>
        <a:xfrm rot="19440000">
          <a:off x="1265826" y="1028294"/>
          <a:ext cx="347158" cy="4409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1275771" y="1147082"/>
        <a:ext cx="243011" cy="26454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A81E905-2720-4FFE-A897-C6790173FF0F}" type="datetimeFigureOut">
              <a:rPr lang="en-IN" smtClean="0"/>
              <a:t>12-01-2026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8504CCD6-5134-4457-A597-09B42912618C}"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40610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204993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81E905-2720-4FFE-A897-C6790173FF0F}"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493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81E905-2720-4FFE-A897-C6790173FF0F}"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258094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81E905-2720-4FFE-A897-C6790173FF0F}" type="datetimeFigureOut">
              <a:rPr lang="en-IN" smtClean="0"/>
              <a:t>12-01-2026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618014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81E905-2720-4FFE-A897-C6790173FF0F}" type="datetimeFigureOut">
              <a:rPr lang="en-IN" smtClean="0"/>
              <a:t>12-01-2026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1228745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81E905-2720-4FFE-A897-C6790173FF0F}" type="datetimeFigureOut">
              <a:rPr lang="en-IN" smtClean="0"/>
              <a:t>12-01-2026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1971212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81E905-2720-4FFE-A897-C6790173FF0F}"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133834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81E905-2720-4FFE-A897-C6790173FF0F}"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401294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203371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549067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A81E905-2720-4FFE-A897-C6790173FF0F}" type="datetimeFigureOut">
              <a:rPr lang="en-IN" smtClean="0"/>
              <a:t>12-01-2026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8504CCD6-5134-4457-A597-09B42912618C}" type="slidenum">
              <a:rPr lang="en-IN" smtClean="0"/>
              <a:t>‹#›</a:t>
            </a:fld>
            <a:endParaRPr lang="en-IN"/>
          </a:p>
        </p:txBody>
      </p:sp>
    </p:spTree>
    <p:extLst>
      <p:ext uri="{BB962C8B-B14F-4D97-AF65-F5344CB8AC3E}">
        <p14:creationId xmlns:p14="http://schemas.microsoft.com/office/powerpoint/2010/main" val="138745340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0CCA1DE-153B-2CC5-DA50-D12A382A1EC5}"/>
              </a:ext>
            </a:extLst>
          </p:cNvPr>
          <p:cNvSpPr>
            <a:spLocks noGrp="1"/>
          </p:cNvSpPr>
          <p:nvPr>
            <p:ph type="ctrTitle"/>
          </p:nvPr>
        </p:nvSpPr>
        <p:spPr>
          <a:xfrm>
            <a:off x="566530" y="882376"/>
            <a:ext cx="11420061" cy="2926080"/>
          </a:xfrm>
        </p:spPr>
        <p:txBody>
          <a:bodyPr anchor="ctr">
            <a:normAutofit/>
          </a:bodyPr>
          <a:lstStyle/>
          <a:p>
            <a:pPr algn="ctr"/>
            <a:r>
              <a:rPr lang="en-US" sz="5400" b="1" dirty="0"/>
              <a:t>INFORMATION TECHNOLOGY</a:t>
            </a:r>
            <a:endParaRPr lang="en-IN" sz="5400" b="1" dirty="0"/>
          </a:p>
        </p:txBody>
      </p:sp>
      <p:sp>
        <p:nvSpPr>
          <p:cNvPr id="8" name="Subtitle 7">
            <a:extLst>
              <a:ext uri="{FF2B5EF4-FFF2-40B4-BE49-F238E27FC236}">
                <a16:creationId xmlns:a16="http://schemas.microsoft.com/office/drawing/2014/main" id="{1F0C4E3B-C20B-B2AD-E6CD-EF8D67000DD1}"/>
              </a:ext>
            </a:extLst>
          </p:cNvPr>
          <p:cNvSpPr>
            <a:spLocks noGrp="1"/>
          </p:cNvSpPr>
          <p:nvPr>
            <p:ph type="subTitle" idx="1"/>
          </p:nvPr>
        </p:nvSpPr>
        <p:spPr/>
        <p:txBody>
          <a:bodyPr/>
          <a:lstStyle/>
          <a:p>
            <a:pPr algn="r"/>
            <a:r>
              <a:rPr lang="en-US" dirty="0"/>
              <a:t>By Moumita Akhuli</a:t>
            </a:r>
            <a:endParaRPr lang="en-IN" dirty="0"/>
          </a:p>
        </p:txBody>
      </p:sp>
    </p:spTree>
    <p:extLst>
      <p:ext uri="{BB962C8B-B14F-4D97-AF65-F5344CB8AC3E}">
        <p14:creationId xmlns:p14="http://schemas.microsoft.com/office/powerpoint/2010/main" val="1198340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7BD422-C48D-99ED-1720-203DA77F0267}"/>
              </a:ext>
            </a:extLst>
          </p:cNvPr>
          <p:cNvSpPr>
            <a:spLocks noGrp="1"/>
          </p:cNvSpPr>
          <p:nvPr>
            <p:ph type="title"/>
          </p:nvPr>
        </p:nvSpPr>
        <p:spPr>
          <a:xfrm>
            <a:off x="1261872" y="365760"/>
            <a:ext cx="9830198" cy="1325562"/>
          </a:xfrm>
        </p:spPr>
        <p:txBody>
          <a:bodyPr/>
          <a:lstStyle/>
          <a:p>
            <a:r>
              <a:rPr lang="en-US" b="1" dirty="0"/>
              <a:t>What is Information Technology ?</a:t>
            </a:r>
            <a:endParaRPr lang="en-IN" b="1" dirty="0"/>
          </a:p>
        </p:txBody>
      </p:sp>
      <p:sp>
        <p:nvSpPr>
          <p:cNvPr id="7" name="Content Placeholder 6">
            <a:extLst>
              <a:ext uri="{FF2B5EF4-FFF2-40B4-BE49-F238E27FC236}">
                <a16:creationId xmlns:a16="http://schemas.microsoft.com/office/drawing/2014/main" id="{5BE530A4-2DCC-7CCC-BC73-B3D1F5B8A3E5}"/>
              </a:ext>
            </a:extLst>
          </p:cNvPr>
          <p:cNvSpPr>
            <a:spLocks noGrp="1"/>
          </p:cNvSpPr>
          <p:nvPr>
            <p:ph idx="1"/>
          </p:nvPr>
        </p:nvSpPr>
        <p:spPr/>
        <p:txBody>
          <a:bodyPr anchor="ctr">
            <a:normAutofit/>
          </a:bodyPr>
          <a:lstStyle/>
          <a:p>
            <a:pPr marL="0" indent="0">
              <a:buNone/>
            </a:pPr>
            <a:r>
              <a:rPr lang="en-US" dirty="0"/>
              <a:t>Information Technology (IT) refers to the use of computers, software, networks, and data.</a:t>
            </a:r>
          </a:p>
          <a:p>
            <a:pPr marL="0" indent="0">
              <a:buNone/>
            </a:pPr>
            <a:r>
              <a:rPr lang="en-US" dirty="0"/>
              <a:t>IT helps in storing, processing, and sharing information.</a:t>
            </a:r>
          </a:p>
          <a:p>
            <a:pPr marL="45720" indent="0">
              <a:buNone/>
            </a:pPr>
            <a:r>
              <a:rPr lang="en-US" b="1" dirty="0"/>
              <a:t>Key Components of IT :</a:t>
            </a:r>
          </a:p>
          <a:p>
            <a:pPr lvl="1"/>
            <a:r>
              <a:rPr lang="en-US" b="1" dirty="0"/>
              <a:t>Hardware</a:t>
            </a:r>
            <a:r>
              <a:rPr lang="en-US" dirty="0"/>
              <a:t> – Physical devices like computers, servers, keyboards, and storage devices.</a:t>
            </a:r>
          </a:p>
          <a:p>
            <a:pPr lvl="1"/>
            <a:r>
              <a:rPr lang="en-US" b="1" dirty="0"/>
              <a:t>Software</a:t>
            </a:r>
            <a:r>
              <a:rPr lang="en-US" dirty="0"/>
              <a:t> – Programs and applications that run on hardware (e.g., operating systems, MS Word, databases).</a:t>
            </a:r>
          </a:p>
          <a:p>
            <a:pPr lvl="1"/>
            <a:r>
              <a:rPr lang="en-US" b="1" dirty="0"/>
              <a:t>Networks</a:t>
            </a:r>
            <a:r>
              <a:rPr lang="en-US" dirty="0"/>
              <a:t> – Communication systems that connect computers and devices (LAN, WAN, Internet).</a:t>
            </a:r>
          </a:p>
          <a:p>
            <a:pPr lvl="1"/>
            <a:r>
              <a:rPr lang="en-US" b="1" dirty="0"/>
              <a:t>Databases</a:t>
            </a:r>
            <a:r>
              <a:rPr lang="en-US" dirty="0"/>
              <a:t> – Organized collections of data that allow easy storage, retrieval, and management of information.</a:t>
            </a:r>
          </a:p>
        </p:txBody>
      </p:sp>
    </p:spTree>
    <p:extLst>
      <p:ext uri="{BB962C8B-B14F-4D97-AF65-F5344CB8AC3E}">
        <p14:creationId xmlns:p14="http://schemas.microsoft.com/office/powerpoint/2010/main" val="384469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AA72-236C-24A1-8EAB-0C4C64E486F1}"/>
              </a:ext>
            </a:extLst>
          </p:cNvPr>
          <p:cNvSpPr>
            <a:spLocks noGrp="1"/>
          </p:cNvSpPr>
          <p:nvPr>
            <p:ph type="title"/>
          </p:nvPr>
        </p:nvSpPr>
        <p:spPr/>
        <p:txBody>
          <a:bodyPr/>
          <a:lstStyle/>
          <a:p>
            <a:r>
              <a:rPr lang="en-US" b="1" dirty="0"/>
              <a:t>Role of IT in Business Operations</a:t>
            </a:r>
            <a:endParaRPr lang="en-IN" b="1" dirty="0"/>
          </a:p>
        </p:txBody>
      </p:sp>
      <p:sp>
        <p:nvSpPr>
          <p:cNvPr id="3" name="Content Placeholder 2">
            <a:extLst>
              <a:ext uri="{FF2B5EF4-FFF2-40B4-BE49-F238E27FC236}">
                <a16:creationId xmlns:a16="http://schemas.microsoft.com/office/drawing/2014/main" id="{13D5D0D8-99B2-3C27-5530-D4C37BED106A}"/>
              </a:ext>
            </a:extLst>
          </p:cNvPr>
          <p:cNvSpPr>
            <a:spLocks noGrp="1"/>
          </p:cNvSpPr>
          <p:nvPr>
            <p:ph idx="1"/>
          </p:nvPr>
        </p:nvSpPr>
        <p:spPr/>
        <p:txBody>
          <a:bodyPr anchor="ctr"/>
          <a:lstStyle/>
          <a:p>
            <a:r>
              <a:rPr lang="en-US" dirty="0"/>
              <a:t>IT systems automatically perform regular tasks like billing, payroll, data entry, and report generation, reducing manual work.</a:t>
            </a:r>
          </a:p>
          <a:p>
            <a:r>
              <a:rPr lang="en-US" dirty="0"/>
              <a:t>Technology helps employees complete work faster and more accurately, allowing them to focus on important activities.</a:t>
            </a:r>
          </a:p>
          <a:p>
            <a:r>
              <a:rPr lang="en-US" dirty="0"/>
              <a:t>Automation and digital processes lower expenses by saving time, reducing paperwork, and minimizing errors.</a:t>
            </a:r>
          </a:p>
          <a:p>
            <a:r>
              <a:rPr lang="en-US" dirty="0"/>
              <a:t>Tools like email, video meetings, and shared platforms allow teams to communicate and work together instantly, even from different locations.</a:t>
            </a:r>
          </a:p>
        </p:txBody>
      </p:sp>
    </p:spTree>
    <p:extLst>
      <p:ext uri="{BB962C8B-B14F-4D97-AF65-F5344CB8AC3E}">
        <p14:creationId xmlns:p14="http://schemas.microsoft.com/office/powerpoint/2010/main" val="3039059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F206-4B64-5317-644A-D43E56A5AD9D}"/>
              </a:ext>
            </a:extLst>
          </p:cNvPr>
          <p:cNvSpPr>
            <a:spLocks noGrp="1"/>
          </p:cNvSpPr>
          <p:nvPr>
            <p:ph type="title"/>
          </p:nvPr>
        </p:nvSpPr>
        <p:spPr/>
        <p:txBody>
          <a:bodyPr/>
          <a:lstStyle/>
          <a:p>
            <a:r>
              <a:rPr lang="en-IN" b="1" dirty="0"/>
              <a:t>Overview of Business Systems</a:t>
            </a:r>
          </a:p>
        </p:txBody>
      </p:sp>
      <p:sp>
        <p:nvSpPr>
          <p:cNvPr id="3" name="Content Placeholder 2">
            <a:extLst>
              <a:ext uri="{FF2B5EF4-FFF2-40B4-BE49-F238E27FC236}">
                <a16:creationId xmlns:a16="http://schemas.microsoft.com/office/drawing/2014/main" id="{FA093773-8C40-FFD5-8946-1F9C059B2427}"/>
              </a:ext>
            </a:extLst>
          </p:cNvPr>
          <p:cNvSpPr>
            <a:spLocks noGrp="1"/>
          </p:cNvSpPr>
          <p:nvPr>
            <p:ph idx="1"/>
          </p:nvPr>
        </p:nvSpPr>
        <p:spPr/>
        <p:txBody>
          <a:bodyPr anchor="ctr"/>
          <a:lstStyle/>
          <a:p>
            <a:pPr marL="45720" indent="0">
              <a:buNone/>
            </a:pPr>
            <a:r>
              <a:rPr lang="en-US" b="1" dirty="0"/>
              <a:t>Business systems</a:t>
            </a:r>
            <a:r>
              <a:rPr lang="en-US" dirty="0"/>
              <a:t> are software solutions that help organizations run their daily operations smoothly and efficiently by supporting key business processes.</a:t>
            </a:r>
          </a:p>
          <a:p>
            <a:r>
              <a:rPr lang="en-US" b="1" dirty="0"/>
              <a:t>ERP (Enterprise Resource Planning):</a:t>
            </a:r>
            <a:r>
              <a:rPr lang="en-US" dirty="0"/>
              <a:t> Integrates and manages core functions like finance, human resources, production, and inventory in a single system.</a:t>
            </a:r>
          </a:p>
          <a:p>
            <a:r>
              <a:rPr lang="en-US" b="1" dirty="0"/>
              <a:t>CRM (Customer Relationship Management):</a:t>
            </a:r>
            <a:r>
              <a:rPr lang="en-US" dirty="0"/>
              <a:t> Focuses on managing customer data, interactions, sales, and improving customer satisfaction.</a:t>
            </a:r>
          </a:p>
          <a:p>
            <a:r>
              <a:rPr lang="en-US" b="1" dirty="0"/>
              <a:t>SCM (Supply Chain Management):</a:t>
            </a:r>
            <a:r>
              <a:rPr lang="en-US" dirty="0"/>
              <a:t> Manages the flow of goods, information, and services from suppliers to customers, ensuring timely delivery and cost efficiency.</a:t>
            </a:r>
          </a:p>
        </p:txBody>
      </p:sp>
    </p:spTree>
    <p:extLst>
      <p:ext uri="{BB962C8B-B14F-4D97-AF65-F5344CB8AC3E}">
        <p14:creationId xmlns:p14="http://schemas.microsoft.com/office/powerpoint/2010/main" val="3455106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8DD0-30F6-9785-9798-647FD91A14F6}"/>
              </a:ext>
            </a:extLst>
          </p:cNvPr>
          <p:cNvSpPr>
            <a:spLocks noGrp="1"/>
          </p:cNvSpPr>
          <p:nvPr>
            <p:ph type="title"/>
          </p:nvPr>
        </p:nvSpPr>
        <p:spPr/>
        <p:txBody>
          <a:bodyPr/>
          <a:lstStyle/>
          <a:p>
            <a:r>
              <a:rPr lang="en-US" b="1" dirty="0"/>
              <a:t>Interplay Between IT and Business Strategy</a:t>
            </a:r>
            <a:endParaRPr lang="en-IN" b="1" dirty="0"/>
          </a:p>
        </p:txBody>
      </p:sp>
      <p:graphicFrame>
        <p:nvGraphicFramePr>
          <p:cNvPr id="9" name="Content Placeholder 8">
            <a:extLst>
              <a:ext uri="{FF2B5EF4-FFF2-40B4-BE49-F238E27FC236}">
                <a16:creationId xmlns:a16="http://schemas.microsoft.com/office/drawing/2014/main" id="{4B627D6C-6B1B-74BE-A329-2D2D93F94CCA}"/>
              </a:ext>
            </a:extLst>
          </p:cNvPr>
          <p:cNvGraphicFramePr>
            <a:graphicFrameLocks noGrp="1"/>
          </p:cNvGraphicFramePr>
          <p:nvPr>
            <p:ph idx="1"/>
            <p:extLst>
              <p:ext uri="{D42A27DB-BD31-4B8C-83A1-F6EECF244321}">
                <p14:modId xmlns:p14="http://schemas.microsoft.com/office/powerpoint/2010/main" val="4171695852"/>
              </p:ext>
            </p:extLst>
          </p:nvPr>
        </p:nvGraphicFramePr>
        <p:xfrm>
          <a:off x="1262063" y="1947069"/>
          <a:ext cx="8594724" cy="4114800"/>
        </p:xfrm>
        <a:graphic>
          <a:graphicData uri="http://schemas.openxmlformats.org/drawingml/2006/table">
            <a:tbl>
              <a:tblPr>
                <a:tableStyleId>{5940675A-B579-460E-94D1-54222C63F5DA}</a:tableStyleId>
              </a:tblPr>
              <a:tblGrid>
                <a:gridCol w="2864908">
                  <a:extLst>
                    <a:ext uri="{9D8B030D-6E8A-4147-A177-3AD203B41FA5}">
                      <a16:colId xmlns:a16="http://schemas.microsoft.com/office/drawing/2014/main" val="1396592049"/>
                    </a:ext>
                  </a:extLst>
                </a:gridCol>
                <a:gridCol w="2864908">
                  <a:extLst>
                    <a:ext uri="{9D8B030D-6E8A-4147-A177-3AD203B41FA5}">
                      <a16:colId xmlns:a16="http://schemas.microsoft.com/office/drawing/2014/main" val="2496172739"/>
                    </a:ext>
                  </a:extLst>
                </a:gridCol>
                <a:gridCol w="2864908">
                  <a:extLst>
                    <a:ext uri="{9D8B030D-6E8A-4147-A177-3AD203B41FA5}">
                      <a16:colId xmlns:a16="http://schemas.microsoft.com/office/drawing/2014/main" val="3448676486"/>
                    </a:ext>
                  </a:extLst>
                </a:gridCol>
              </a:tblGrid>
              <a:tr h="0">
                <a:tc>
                  <a:txBody>
                    <a:bodyPr/>
                    <a:lstStyle/>
                    <a:p>
                      <a:pPr>
                        <a:buNone/>
                      </a:pPr>
                      <a:r>
                        <a:rPr lang="en-IN" b="1"/>
                        <a:t>Aspect</a:t>
                      </a:r>
                      <a:endParaRPr lang="en-IN"/>
                    </a:p>
                  </a:txBody>
                  <a:tcPr anchor="ctr"/>
                </a:tc>
                <a:tc>
                  <a:txBody>
                    <a:bodyPr/>
                    <a:lstStyle/>
                    <a:p>
                      <a:pPr>
                        <a:buNone/>
                      </a:pPr>
                      <a:r>
                        <a:rPr lang="en-IN" b="1"/>
                        <a:t>IT Strategy</a:t>
                      </a:r>
                      <a:endParaRPr lang="en-IN"/>
                    </a:p>
                  </a:txBody>
                  <a:tcPr anchor="ctr"/>
                </a:tc>
                <a:tc>
                  <a:txBody>
                    <a:bodyPr/>
                    <a:lstStyle/>
                    <a:p>
                      <a:pPr>
                        <a:buNone/>
                      </a:pPr>
                      <a:r>
                        <a:rPr lang="en-IN" b="1"/>
                        <a:t>Business Strategy</a:t>
                      </a:r>
                      <a:endParaRPr lang="en-IN"/>
                    </a:p>
                  </a:txBody>
                  <a:tcPr anchor="ctr"/>
                </a:tc>
                <a:extLst>
                  <a:ext uri="{0D108BD9-81ED-4DB2-BD59-A6C34878D82A}">
                    <a16:rowId xmlns:a16="http://schemas.microsoft.com/office/drawing/2014/main" val="2254112698"/>
                  </a:ext>
                </a:extLst>
              </a:tr>
              <a:tr h="0">
                <a:tc>
                  <a:txBody>
                    <a:bodyPr/>
                    <a:lstStyle/>
                    <a:p>
                      <a:pPr>
                        <a:buNone/>
                      </a:pPr>
                      <a:r>
                        <a:rPr lang="en-IN" b="1"/>
                        <a:t>Focus</a:t>
                      </a:r>
                      <a:endParaRPr lang="en-IN"/>
                    </a:p>
                  </a:txBody>
                  <a:tcPr anchor="ctr"/>
                </a:tc>
                <a:tc>
                  <a:txBody>
                    <a:bodyPr/>
                    <a:lstStyle/>
                    <a:p>
                      <a:pPr>
                        <a:buNone/>
                      </a:pPr>
                      <a:r>
                        <a:rPr lang="en-US"/>
                        <a:t>Use of technology and systems</a:t>
                      </a:r>
                    </a:p>
                  </a:txBody>
                  <a:tcPr anchor="ctr"/>
                </a:tc>
                <a:tc>
                  <a:txBody>
                    <a:bodyPr/>
                    <a:lstStyle/>
                    <a:p>
                      <a:pPr>
                        <a:buNone/>
                      </a:pPr>
                      <a:r>
                        <a:rPr lang="en-US"/>
                        <a:t>Overall organizational goals and growth</a:t>
                      </a:r>
                    </a:p>
                  </a:txBody>
                  <a:tcPr anchor="ctr"/>
                </a:tc>
                <a:extLst>
                  <a:ext uri="{0D108BD9-81ED-4DB2-BD59-A6C34878D82A}">
                    <a16:rowId xmlns:a16="http://schemas.microsoft.com/office/drawing/2014/main" val="93399735"/>
                  </a:ext>
                </a:extLst>
              </a:tr>
              <a:tr h="0">
                <a:tc>
                  <a:txBody>
                    <a:bodyPr/>
                    <a:lstStyle/>
                    <a:p>
                      <a:pPr>
                        <a:buNone/>
                      </a:pPr>
                      <a:r>
                        <a:rPr lang="en-IN" b="1"/>
                        <a:t>Purpose</a:t>
                      </a:r>
                      <a:endParaRPr lang="en-IN"/>
                    </a:p>
                  </a:txBody>
                  <a:tcPr anchor="ctr"/>
                </a:tc>
                <a:tc>
                  <a:txBody>
                    <a:bodyPr/>
                    <a:lstStyle/>
                    <a:p>
                      <a:pPr>
                        <a:buNone/>
                      </a:pPr>
                      <a:r>
                        <a:rPr lang="en-US"/>
                        <a:t>Supports and enables business operations</a:t>
                      </a:r>
                    </a:p>
                  </a:txBody>
                  <a:tcPr anchor="ctr"/>
                </a:tc>
                <a:tc>
                  <a:txBody>
                    <a:bodyPr/>
                    <a:lstStyle/>
                    <a:p>
                      <a:pPr>
                        <a:buNone/>
                      </a:pPr>
                      <a:r>
                        <a:rPr lang="en-US"/>
                        <a:t>Defines what the business wants to achieve</a:t>
                      </a:r>
                    </a:p>
                  </a:txBody>
                  <a:tcPr anchor="ctr"/>
                </a:tc>
                <a:extLst>
                  <a:ext uri="{0D108BD9-81ED-4DB2-BD59-A6C34878D82A}">
                    <a16:rowId xmlns:a16="http://schemas.microsoft.com/office/drawing/2014/main" val="3911133692"/>
                  </a:ext>
                </a:extLst>
              </a:tr>
              <a:tr h="0">
                <a:tc>
                  <a:txBody>
                    <a:bodyPr/>
                    <a:lstStyle/>
                    <a:p>
                      <a:pPr>
                        <a:buNone/>
                      </a:pPr>
                      <a:r>
                        <a:rPr lang="en-IN" b="1"/>
                        <a:t>Scope</a:t>
                      </a:r>
                      <a:endParaRPr lang="en-IN"/>
                    </a:p>
                  </a:txBody>
                  <a:tcPr anchor="ctr"/>
                </a:tc>
                <a:tc>
                  <a:txBody>
                    <a:bodyPr/>
                    <a:lstStyle/>
                    <a:p>
                      <a:pPr>
                        <a:buNone/>
                      </a:pPr>
                      <a:r>
                        <a:rPr lang="en-US"/>
                        <a:t>Concerned with IT infrastructure, software, and data</a:t>
                      </a:r>
                    </a:p>
                  </a:txBody>
                  <a:tcPr anchor="ctr"/>
                </a:tc>
                <a:tc>
                  <a:txBody>
                    <a:bodyPr/>
                    <a:lstStyle/>
                    <a:p>
                      <a:pPr>
                        <a:buNone/>
                      </a:pPr>
                      <a:r>
                        <a:rPr lang="en-US"/>
                        <a:t>Concerned with markets, customers, and competition</a:t>
                      </a:r>
                    </a:p>
                  </a:txBody>
                  <a:tcPr anchor="ctr"/>
                </a:tc>
                <a:extLst>
                  <a:ext uri="{0D108BD9-81ED-4DB2-BD59-A6C34878D82A}">
                    <a16:rowId xmlns:a16="http://schemas.microsoft.com/office/drawing/2014/main" val="3988268266"/>
                  </a:ext>
                </a:extLst>
              </a:tr>
              <a:tr h="0">
                <a:tc>
                  <a:txBody>
                    <a:bodyPr/>
                    <a:lstStyle/>
                    <a:p>
                      <a:pPr>
                        <a:buNone/>
                      </a:pPr>
                      <a:r>
                        <a:rPr lang="en-IN" b="1"/>
                        <a:t>Decision basis</a:t>
                      </a:r>
                      <a:endParaRPr lang="en-IN"/>
                    </a:p>
                  </a:txBody>
                  <a:tcPr anchor="ctr"/>
                </a:tc>
                <a:tc>
                  <a:txBody>
                    <a:bodyPr/>
                    <a:lstStyle/>
                    <a:p>
                      <a:pPr>
                        <a:buNone/>
                      </a:pPr>
                      <a:r>
                        <a:rPr lang="en-IN"/>
                        <a:t>Technology capabilities and efficiency</a:t>
                      </a:r>
                    </a:p>
                  </a:txBody>
                  <a:tcPr anchor="ctr"/>
                </a:tc>
                <a:tc>
                  <a:txBody>
                    <a:bodyPr/>
                    <a:lstStyle/>
                    <a:p>
                      <a:pPr>
                        <a:buNone/>
                      </a:pPr>
                      <a:r>
                        <a:rPr lang="en-US"/>
                        <a:t>Market conditions and business objectives</a:t>
                      </a:r>
                    </a:p>
                  </a:txBody>
                  <a:tcPr anchor="ctr"/>
                </a:tc>
                <a:extLst>
                  <a:ext uri="{0D108BD9-81ED-4DB2-BD59-A6C34878D82A}">
                    <a16:rowId xmlns:a16="http://schemas.microsoft.com/office/drawing/2014/main" val="4269727686"/>
                  </a:ext>
                </a:extLst>
              </a:tr>
              <a:tr h="0">
                <a:tc>
                  <a:txBody>
                    <a:bodyPr/>
                    <a:lstStyle/>
                    <a:p>
                      <a:pPr>
                        <a:buNone/>
                      </a:pPr>
                      <a:r>
                        <a:rPr lang="en-IN" b="1"/>
                        <a:t>Outcome</a:t>
                      </a:r>
                      <a:endParaRPr lang="en-IN"/>
                    </a:p>
                  </a:txBody>
                  <a:tcPr anchor="ctr"/>
                </a:tc>
                <a:tc>
                  <a:txBody>
                    <a:bodyPr/>
                    <a:lstStyle/>
                    <a:p>
                      <a:pPr>
                        <a:buNone/>
                      </a:pPr>
                      <a:r>
                        <a:rPr lang="en-US"/>
                        <a:t>Efficient systems and digital solutions</a:t>
                      </a:r>
                    </a:p>
                  </a:txBody>
                  <a:tcPr anchor="ctr"/>
                </a:tc>
                <a:tc>
                  <a:txBody>
                    <a:bodyPr/>
                    <a:lstStyle/>
                    <a:p>
                      <a:pPr>
                        <a:buNone/>
                      </a:pPr>
                      <a:r>
                        <a:rPr lang="en-IN" dirty="0"/>
                        <a:t>Competitive advantage and profitability</a:t>
                      </a:r>
                    </a:p>
                  </a:txBody>
                  <a:tcPr anchor="ctr"/>
                </a:tc>
                <a:extLst>
                  <a:ext uri="{0D108BD9-81ED-4DB2-BD59-A6C34878D82A}">
                    <a16:rowId xmlns:a16="http://schemas.microsoft.com/office/drawing/2014/main" val="3557596927"/>
                  </a:ext>
                </a:extLst>
              </a:tr>
            </a:tbl>
          </a:graphicData>
        </a:graphic>
      </p:graphicFrame>
    </p:spTree>
    <p:extLst>
      <p:ext uri="{BB962C8B-B14F-4D97-AF65-F5344CB8AC3E}">
        <p14:creationId xmlns:p14="http://schemas.microsoft.com/office/powerpoint/2010/main" val="1297289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0522-0413-094B-D903-068046328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64F20-2A19-189C-5AD0-E04BDA1E8339}"/>
              </a:ext>
            </a:extLst>
          </p:cNvPr>
          <p:cNvSpPr>
            <a:spLocks noGrp="1"/>
          </p:cNvSpPr>
          <p:nvPr>
            <p:ph type="title"/>
          </p:nvPr>
        </p:nvSpPr>
        <p:spPr>
          <a:xfrm>
            <a:off x="1261871" y="365760"/>
            <a:ext cx="8595361" cy="1325562"/>
          </a:xfrm>
        </p:spPr>
        <p:txBody>
          <a:bodyPr/>
          <a:lstStyle/>
          <a:p>
            <a:r>
              <a:rPr lang="en-IN" b="1" dirty="0"/>
              <a:t>Understanding Different Data Types</a:t>
            </a:r>
          </a:p>
        </p:txBody>
      </p:sp>
      <p:sp>
        <p:nvSpPr>
          <p:cNvPr id="3" name="Content Placeholder 2">
            <a:extLst>
              <a:ext uri="{FF2B5EF4-FFF2-40B4-BE49-F238E27FC236}">
                <a16:creationId xmlns:a16="http://schemas.microsoft.com/office/drawing/2014/main" id="{06CD8CF8-B5EF-B91E-70A4-7F132F194C14}"/>
              </a:ext>
            </a:extLst>
          </p:cNvPr>
          <p:cNvSpPr>
            <a:spLocks noGrp="1"/>
          </p:cNvSpPr>
          <p:nvPr>
            <p:ph idx="1"/>
          </p:nvPr>
        </p:nvSpPr>
        <p:spPr/>
        <p:txBody>
          <a:bodyPr anchor="ctr"/>
          <a:lstStyle/>
          <a:p>
            <a:pPr marL="45720" indent="0">
              <a:buNone/>
            </a:pPr>
            <a:r>
              <a:rPr lang="en-US" b="1" dirty="0"/>
              <a:t>Different data types</a:t>
            </a:r>
            <a:r>
              <a:rPr lang="en-US" dirty="0"/>
              <a:t> explain how data is organized.</a:t>
            </a:r>
          </a:p>
          <a:p>
            <a:r>
              <a:rPr lang="en-US" b="1" dirty="0"/>
              <a:t>Structured Data:</a:t>
            </a:r>
            <a:r>
              <a:rPr lang="en-US" dirty="0"/>
              <a:t> Data stored in a fixed, organized format like tables and databases, making it easy to search and analyze.</a:t>
            </a:r>
          </a:p>
          <a:p>
            <a:r>
              <a:rPr lang="en-US" b="1" dirty="0"/>
              <a:t>Unstructured Data:</a:t>
            </a:r>
            <a:r>
              <a:rPr lang="en-US" dirty="0"/>
              <a:t> Data without a predefined structure, such as images, videos, and emails.</a:t>
            </a:r>
          </a:p>
          <a:p>
            <a:r>
              <a:rPr lang="en-US" b="1" dirty="0"/>
              <a:t>Semi-Structured Data:</a:t>
            </a:r>
            <a:r>
              <a:rPr lang="en-US" dirty="0"/>
              <a:t> Data that has some organization using tags or labels, like </a:t>
            </a:r>
            <a:r>
              <a:rPr lang="en-US" b="1" dirty="0"/>
              <a:t>XML</a:t>
            </a:r>
            <a:r>
              <a:rPr lang="en-US" dirty="0"/>
              <a:t> and </a:t>
            </a:r>
            <a:r>
              <a:rPr lang="en-US" b="1" dirty="0"/>
              <a:t>JSON</a:t>
            </a:r>
            <a:r>
              <a:rPr lang="en-US" dirty="0"/>
              <a:t>, but is more flexible than structured data.</a:t>
            </a:r>
          </a:p>
        </p:txBody>
      </p:sp>
    </p:spTree>
    <p:extLst>
      <p:ext uri="{BB962C8B-B14F-4D97-AF65-F5344CB8AC3E}">
        <p14:creationId xmlns:p14="http://schemas.microsoft.com/office/powerpoint/2010/main" val="4026838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E217-82F4-D0E8-F469-E76444999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D80C9-6B8C-2EF4-33D5-7F0594676702}"/>
              </a:ext>
            </a:extLst>
          </p:cNvPr>
          <p:cNvSpPr>
            <a:spLocks noGrp="1"/>
          </p:cNvSpPr>
          <p:nvPr>
            <p:ph type="title"/>
          </p:nvPr>
        </p:nvSpPr>
        <p:spPr/>
        <p:txBody>
          <a:bodyPr/>
          <a:lstStyle/>
          <a:p>
            <a:r>
              <a:rPr lang="en-IN" b="1" dirty="0"/>
              <a:t>Common Data Sources</a:t>
            </a:r>
          </a:p>
        </p:txBody>
      </p:sp>
      <p:sp>
        <p:nvSpPr>
          <p:cNvPr id="3" name="Content Placeholder 2">
            <a:extLst>
              <a:ext uri="{FF2B5EF4-FFF2-40B4-BE49-F238E27FC236}">
                <a16:creationId xmlns:a16="http://schemas.microsoft.com/office/drawing/2014/main" id="{5A5AB0DF-5CBD-3D9D-644C-D1DCADF6CC9E}"/>
              </a:ext>
            </a:extLst>
          </p:cNvPr>
          <p:cNvSpPr>
            <a:spLocks noGrp="1"/>
          </p:cNvSpPr>
          <p:nvPr>
            <p:ph idx="1"/>
          </p:nvPr>
        </p:nvSpPr>
        <p:spPr/>
        <p:txBody>
          <a:bodyPr anchor="ctr"/>
          <a:lstStyle/>
          <a:p>
            <a:pPr marL="45720" indent="0">
              <a:buNone/>
            </a:pPr>
            <a:r>
              <a:rPr lang="en-US" b="1" dirty="0"/>
              <a:t>Data sources</a:t>
            </a:r>
            <a:r>
              <a:rPr lang="en-US" dirty="0"/>
              <a:t> are the origins from which data is collected.</a:t>
            </a:r>
          </a:p>
          <a:p>
            <a:r>
              <a:rPr lang="en-US" b="1" dirty="0"/>
              <a:t>Internal sources:</a:t>
            </a:r>
            <a:r>
              <a:rPr lang="en-US" dirty="0"/>
              <a:t> Data generated within an organization, such as sales reports, HR records, and finance data.</a:t>
            </a:r>
          </a:p>
          <a:p>
            <a:r>
              <a:rPr lang="en-US" b="1" dirty="0"/>
              <a:t>External sources:</a:t>
            </a:r>
            <a:r>
              <a:rPr lang="en-US" dirty="0"/>
              <a:t> Data collected from outside the organization, including market research, social media, and industry reports.</a:t>
            </a:r>
          </a:p>
          <a:p>
            <a:r>
              <a:rPr lang="en-US" b="1" dirty="0"/>
              <a:t>Databases and APIs:</a:t>
            </a:r>
            <a:r>
              <a:rPr lang="en-US" dirty="0"/>
              <a:t> Databases store large amounts of structured data, while APIs allow systems to access and exchange data automatically from different applications.</a:t>
            </a:r>
          </a:p>
        </p:txBody>
      </p:sp>
    </p:spTree>
    <p:extLst>
      <p:ext uri="{BB962C8B-B14F-4D97-AF65-F5344CB8AC3E}">
        <p14:creationId xmlns:p14="http://schemas.microsoft.com/office/powerpoint/2010/main" val="4072290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E1C9-151A-2EE1-E783-A888DC38A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D1896-B2C4-B31C-C28F-3013236AFFA5}"/>
              </a:ext>
            </a:extLst>
          </p:cNvPr>
          <p:cNvSpPr>
            <a:spLocks noGrp="1"/>
          </p:cNvSpPr>
          <p:nvPr>
            <p:ph type="title"/>
          </p:nvPr>
        </p:nvSpPr>
        <p:spPr/>
        <p:txBody>
          <a:bodyPr/>
          <a:lstStyle/>
          <a:p>
            <a:r>
              <a:rPr lang="en-IN" b="1" dirty="0"/>
              <a:t>Data Collection Methods</a:t>
            </a:r>
          </a:p>
        </p:txBody>
      </p:sp>
      <p:sp>
        <p:nvSpPr>
          <p:cNvPr id="3" name="Content Placeholder 2">
            <a:extLst>
              <a:ext uri="{FF2B5EF4-FFF2-40B4-BE49-F238E27FC236}">
                <a16:creationId xmlns:a16="http://schemas.microsoft.com/office/drawing/2014/main" id="{63A4DC2A-CB14-15B8-DE1C-6BCBC40512BE}"/>
              </a:ext>
            </a:extLst>
          </p:cNvPr>
          <p:cNvSpPr>
            <a:spLocks noGrp="1"/>
          </p:cNvSpPr>
          <p:nvPr>
            <p:ph idx="1"/>
          </p:nvPr>
        </p:nvSpPr>
        <p:spPr/>
        <p:txBody>
          <a:bodyPr anchor="ctr"/>
          <a:lstStyle/>
          <a:p>
            <a:r>
              <a:rPr lang="en-US" b="1" dirty="0"/>
              <a:t>Surveys and questionnaires:</a:t>
            </a:r>
            <a:r>
              <a:rPr lang="en-US" dirty="0"/>
              <a:t> Collect data directly from people for opinions and feedback.</a:t>
            </a:r>
          </a:p>
          <a:p>
            <a:r>
              <a:rPr lang="en-US" b="1" dirty="0"/>
              <a:t>Transaction systems:</a:t>
            </a:r>
            <a:r>
              <a:rPr lang="en-US" dirty="0"/>
              <a:t> Capture data from daily operations like sales, payments, and bookings.</a:t>
            </a:r>
          </a:p>
          <a:p>
            <a:r>
              <a:rPr lang="en-US" b="1" dirty="0"/>
              <a:t>Sensors and IoT devices:</a:t>
            </a:r>
            <a:r>
              <a:rPr lang="en-US" dirty="0"/>
              <a:t> Automatically collect real-time data from physical devices and environments.</a:t>
            </a:r>
          </a:p>
          <a:p>
            <a:r>
              <a:rPr lang="en-US" b="1" dirty="0"/>
              <a:t>Web data collection:</a:t>
            </a:r>
            <a:r>
              <a:rPr lang="en-US" dirty="0"/>
              <a:t> Gathers data from websites, online forms, and user interactions.</a:t>
            </a:r>
          </a:p>
        </p:txBody>
      </p:sp>
    </p:spTree>
    <p:extLst>
      <p:ext uri="{BB962C8B-B14F-4D97-AF65-F5344CB8AC3E}">
        <p14:creationId xmlns:p14="http://schemas.microsoft.com/office/powerpoint/2010/main" val="3366564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D2F3-38BE-9BFF-133B-E560BE806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EFD2F-977F-11C3-C300-9BAE76975CDA}"/>
              </a:ext>
            </a:extLst>
          </p:cNvPr>
          <p:cNvSpPr>
            <a:spLocks noGrp="1"/>
          </p:cNvSpPr>
          <p:nvPr>
            <p:ph type="title"/>
          </p:nvPr>
        </p:nvSpPr>
        <p:spPr/>
        <p:txBody>
          <a:bodyPr/>
          <a:lstStyle/>
          <a:p>
            <a:r>
              <a:rPr lang="en-IN" b="1" dirty="0"/>
              <a:t>Data Lifecycle Management</a:t>
            </a:r>
          </a:p>
        </p:txBody>
      </p:sp>
      <p:sp>
        <p:nvSpPr>
          <p:cNvPr id="3" name="Content Placeholder 2">
            <a:extLst>
              <a:ext uri="{FF2B5EF4-FFF2-40B4-BE49-F238E27FC236}">
                <a16:creationId xmlns:a16="http://schemas.microsoft.com/office/drawing/2014/main" id="{4831B975-9178-683D-1249-3EF6554B5959}"/>
              </a:ext>
            </a:extLst>
          </p:cNvPr>
          <p:cNvSpPr>
            <a:spLocks noGrp="1"/>
          </p:cNvSpPr>
          <p:nvPr>
            <p:ph sz="half" idx="1"/>
          </p:nvPr>
        </p:nvSpPr>
        <p:spPr/>
        <p:txBody>
          <a:bodyPr anchor="ctr">
            <a:normAutofit fontScale="92500" lnSpcReduction="10000"/>
          </a:bodyPr>
          <a:lstStyle/>
          <a:p>
            <a:pPr marL="45720" indent="0">
              <a:buNone/>
            </a:pPr>
            <a:r>
              <a:rPr lang="en-US" b="1" dirty="0"/>
              <a:t>Data Lifecycle Management</a:t>
            </a:r>
            <a:r>
              <a:rPr lang="en-US" dirty="0"/>
              <a:t> describes the stages data goes through:</a:t>
            </a:r>
          </a:p>
          <a:p>
            <a:r>
              <a:rPr lang="en-US" b="1" dirty="0"/>
              <a:t>Data Creation:</a:t>
            </a:r>
            <a:r>
              <a:rPr lang="en-US" dirty="0"/>
              <a:t> Data is generated or collected from various sources.</a:t>
            </a:r>
          </a:p>
          <a:p>
            <a:r>
              <a:rPr lang="en-US" b="1" dirty="0"/>
              <a:t>Data Storage:</a:t>
            </a:r>
            <a:r>
              <a:rPr lang="en-US" dirty="0"/>
              <a:t> Data is saved securely in databases, servers, or cloud systems.</a:t>
            </a:r>
          </a:p>
          <a:p>
            <a:r>
              <a:rPr lang="en-US" b="1" dirty="0"/>
              <a:t>Data Usage:</a:t>
            </a:r>
            <a:r>
              <a:rPr lang="en-US" dirty="0"/>
              <a:t> Data is accessed and analyzed for operations and decision-making.</a:t>
            </a:r>
          </a:p>
          <a:p>
            <a:r>
              <a:rPr lang="en-US" b="1" dirty="0"/>
              <a:t>Data Archiving:</a:t>
            </a:r>
            <a:r>
              <a:rPr lang="en-US" dirty="0"/>
              <a:t> Old or less-used data is stored for long-term reference or compliance.</a:t>
            </a:r>
          </a:p>
          <a:p>
            <a:r>
              <a:rPr lang="en-US" b="1" dirty="0"/>
              <a:t>Data Deletion:</a:t>
            </a:r>
            <a:r>
              <a:rPr lang="en-US" dirty="0"/>
              <a:t> Data is safely removed when it is no longer needed.</a:t>
            </a:r>
          </a:p>
        </p:txBody>
      </p:sp>
      <p:graphicFrame>
        <p:nvGraphicFramePr>
          <p:cNvPr id="5" name="Content Placeholder 4">
            <a:extLst>
              <a:ext uri="{FF2B5EF4-FFF2-40B4-BE49-F238E27FC236}">
                <a16:creationId xmlns:a16="http://schemas.microsoft.com/office/drawing/2014/main" id="{19830F71-2198-152E-E462-70DA4E9AE3B3}"/>
              </a:ext>
            </a:extLst>
          </p:cNvPr>
          <p:cNvGraphicFramePr>
            <a:graphicFrameLocks noGrp="1"/>
          </p:cNvGraphicFramePr>
          <p:nvPr>
            <p:ph sz="half" idx="2"/>
            <p:extLst>
              <p:ext uri="{D42A27DB-BD31-4B8C-83A1-F6EECF244321}">
                <p14:modId xmlns:p14="http://schemas.microsoft.com/office/powerpoint/2010/main" val="4254763636"/>
              </p:ext>
            </p:extLst>
          </p:nvPr>
        </p:nvGraphicFramePr>
        <p:xfrm>
          <a:off x="6126163" y="1828800"/>
          <a:ext cx="448151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3579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74C3-2DC3-949D-44C5-DD5C25700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600FB-35A4-7279-C108-EEC0052C7069}"/>
              </a:ext>
            </a:extLst>
          </p:cNvPr>
          <p:cNvSpPr>
            <a:spLocks noGrp="1"/>
          </p:cNvSpPr>
          <p:nvPr>
            <p:ph type="title"/>
          </p:nvPr>
        </p:nvSpPr>
        <p:spPr/>
        <p:txBody>
          <a:bodyPr/>
          <a:lstStyle/>
          <a:p>
            <a:r>
              <a:rPr lang="en-IN" b="1" dirty="0"/>
              <a:t>Data Quality and Integrity</a:t>
            </a:r>
          </a:p>
        </p:txBody>
      </p:sp>
      <p:sp>
        <p:nvSpPr>
          <p:cNvPr id="3" name="Content Placeholder 2">
            <a:extLst>
              <a:ext uri="{FF2B5EF4-FFF2-40B4-BE49-F238E27FC236}">
                <a16:creationId xmlns:a16="http://schemas.microsoft.com/office/drawing/2014/main" id="{D54120C4-101C-BF41-AECB-3B4FFE784B7B}"/>
              </a:ext>
            </a:extLst>
          </p:cNvPr>
          <p:cNvSpPr>
            <a:spLocks noGrp="1"/>
          </p:cNvSpPr>
          <p:nvPr>
            <p:ph idx="1"/>
          </p:nvPr>
        </p:nvSpPr>
        <p:spPr/>
        <p:txBody>
          <a:bodyPr anchor="ctr"/>
          <a:lstStyle/>
          <a:p>
            <a:pPr marL="45720" indent="0">
              <a:buNone/>
            </a:pPr>
            <a:r>
              <a:rPr lang="en-US" b="1" dirty="0"/>
              <a:t>Data quality</a:t>
            </a:r>
            <a:r>
              <a:rPr lang="en-US" dirty="0"/>
              <a:t> refers to how good and trustworthy data is.</a:t>
            </a:r>
          </a:p>
          <a:p>
            <a:pPr marL="45720" indent="0">
              <a:buNone/>
            </a:pPr>
            <a:r>
              <a:rPr lang="en-US" b="1" dirty="0"/>
              <a:t>Key Components:</a:t>
            </a:r>
            <a:endParaRPr lang="en-US" dirty="0"/>
          </a:p>
          <a:p>
            <a:r>
              <a:rPr lang="en-US" b="1" dirty="0"/>
              <a:t>Accuracy and correctness:</a:t>
            </a:r>
            <a:r>
              <a:rPr lang="en-US" dirty="0"/>
              <a:t> Data should be error-free and reflect real values.</a:t>
            </a:r>
          </a:p>
          <a:p>
            <a:r>
              <a:rPr lang="en-US" b="1" dirty="0"/>
              <a:t>Consistency across systems:</a:t>
            </a:r>
            <a:r>
              <a:rPr lang="en-US" dirty="0"/>
              <a:t> The same data should match in all systems and reports.</a:t>
            </a:r>
          </a:p>
          <a:p>
            <a:r>
              <a:rPr lang="en-US" b="1" dirty="0"/>
              <a:t>Completeness of data:</a:t>
            </a:r>
            <a:r>
              <a:rPr lang="en-US" dirty="0"/>
              <a:t> All required data fields should be filled with no missing information.</a:t>
            </a:r>
          </a:p>
          <a:p>
            <a:r>
              <a:rPr lang="en-US" b="1" dirty="0"/>
              <a:t>Reliability and validity:</a:t>
            </a:r>
            <a:r>
              <a:rPr lang="en-US" dirty="0"/>
              <a:t> Data should be dependable and suitable for its intended purpose.</a:t>
            </a:r>
          </a:p>
        </p:txBody>
      </p:sp>
    </p:spTree>
    <p:extLst>
      <p:ext uri="{BB962C8B-B14F-4D97-AF65-F5344CB8AC3E}">
        <p14:creationId xmlns:p14="http://schemas.microsoft.com/office/powerpoint/2010/main" val="2184650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BBF6-F0F9-FE50-676F-2415F86E4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26186-9AF0-E9FF-86B6-3E7E63C916B6}"/>
              </a:ext>
            </a:extLst>
          </p:cNvPr>
          <p:cNvSpPr>
            <a:spLocks noGrp="1"/>
          </p:cNvSpPr>
          <p:nvPr>
            <p:ph type="title"/>
          </p:nvPr>
        </p:nvSpPr>
        <p:spPr/>
        <p:txBody>
          <a:bodyPr/>
          <a:lstStyle/>
          <a:p>
            <a:r>
              <a:rPr lang="en-IN" b="1" dirty="0"/>
              <a:t>Business Analyst – Definition</a:t>
            </a:r>
          </a:p>
        </p:txBody>
      </p:sp>
      <p:sp>
        <p:nvSpPr>
          <p:cNvPr id="3" name="Content Placeholder 2">
            <a:extLst>
              <a:ext uri="{FF2B5EF4-FFF2-40B4-BE49-F238E27FC236}">
                <a16:creationId xmlns:a16="http://schemas.microsoft.com/office/drawing/2014/main" id="{B15D5AC5-4AAB-4C49-87FC-EB914AB8B7F7}"/>
              </a:ext>
            </a:extLst>
          </p:cNvPr>
          <p:cNvSpPr>
            <a:spLocks noGrp="1"/>
          </p:cNvSpPr>
          <p:nvPr>
            <p:ph idx="1"/>
          </p:nvPr>
        </p:nvSpPr>
        <p:spPr/>
        <p:txBody>
          <a:bodyPr anchor="ctr"/>
          <a:lstStyle/>
          <a:p>
            <a:pPr marL="45720" indent="0">
              <a:buNone/>
            </a:pPr>
            <a:r>
              <a:rPr lang="en-US" dirty="0"/>
              <a:t>A </a:t>
            </a:r>
            <a:r>
              <a:rPr lang="en-US" b="1" dirty="0"/>
              <a:t>Business Analyst</a:t>
            </a:r>
            <a:r>
              <a:rPr lang="en-US" dirty="0"/>
              <a:t> acts as a bridge between business stakeholders and the IT team.</a:t>
            </a:r>
          </a:p>
          <a:p>
            <a:r>
              <a:rPr lang="en-US" b="1" dirty="0"/>
              <a:t>Identifies business needs</a:t>
            </a:r>
            <a:r>
              <a:rPr lang="en-US" dirty="0"/>
              <a:t> by understanding problems, goals, and requirements.</a:t>
            </a:r>
          </a:p>
          <a:p>
            <a:r>
              <a:rPr lang="en-US" b="1" dirty="0"/>
              <a:t>Suggests solutions for improvement</a:t>
            </a:r>
            <a:r>
              <a:rPr lang="en-US" dirty="0"/>
              <a:t> by analyzing processes and recommending changes or system enhancements.</a:t>
            </a:r>
          </a:p>
          <a:p>
            <a:pPr marL="45720" indent="0">
              <a:buNone/>
            </a:pPr>
            <a:r>
              <a:rPr lang="en-US" dirty="0"/>
              <a:t>This role ensures that technology solutions effectively support business objectives.</a:t>
            </a:r>
          </a:p>
        </p:txBody>
      </p:sp>
    </p:spTree>
    <p:extLst>
      <p:ext uri="{BB962C8B-B14F-4D97-AF65-F5344CB8AC3E}">
        <p14:creationId xmlns:p14="http://schemas.microsoft.com/office/powerpoint/2010/main" val="1310956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A596-2379-AC85-42CB-CF821D5B0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87CF9-D60E-1F86-EC3D-1A789AF4F229}"/>
              </a:ext>
            </a:extLst>
          </p:cNvPr>
          <p:cNvSpPr>
            <a:spLocks noGrp="1"/>
          </p:cNvSpPr>
          <p:nvPr>
            <p:ph type="title"/>
          </p:nvPr>
        </p:nvSpPr>
        <p:spPr/>
        <p:txBody>
          <a:bodyPr/>
          <a:lstStyle/>
          <a:p>
            <a:r>
              <a:rPr lang="en-US" b="1" dirty="0"/>
              <a:t>Responsibilities of a Business Analyst</a:t>
            </a:r>
            <a:endParaRPr lang="en-IN" b="1" dirty="0"/>
          </a:p>
        </p:txBody>
      </p:sp>
      <p:sp>
        <p:nvSpPr>
          <p:cNvPr id="3" name="Content Placeholder 2">
            <a:extLst>
              <a:ext uri="{FF2B5EF4-FFF2-40B4-BE49-F238E27FC236}">
                <a16:creationId xmlns:a16="http://schemas.microsoft.com/office/drawing/2014/main" id="{0E6B516A-40A9-3E46-6535-2B3652BFF099}"/>
              </a:ext>
            </a:extLst>
          </p:cNvPr>
          <p:cNvSpPr>
            <a:spLocks noGrp="1"/>
          </p:cNvSpPr>
          <p:nvPr>
            <p:ph idx="1"/>
          </p:nvPr>
        </p:nvSpPr>
        <p:spPr/>
        <p:txBody>
          <a:bodyPr anchor="ctr"/>
          <a:lstStyle/>
          <a:p>
            <a:r>
              <a:rPr lang="en-US" b="1" dirty="0"/>
              <a:t>Requirement gathering:</a:t>
            </a:r>
            <a:r>
              <a:rPr lang="en-US" dirty="0"/>
              <a:t> Collecting and understanding business needs from stakeholders.</a:t>
            </a:r>
          </a:p>
          <a:p>
            <a:r>
              <a:rPr lang="en-US" b="1" dirty="0"/>
              <a:t>Process analysis:</a:t>
            </a:r>
            <a:r>
              <a:rPr lang="en-US" dirty="0"/>
              <a:t> Studying existing processes to identify gaps and improvements.</a:t>
            </a:r>
          </a:p>
          <a:p>
            <a:r>
              <a:rPr lang="en-US" b="1" dirty="0"/>
              <a:t>Documentation:</a:t>
            </a:r>
            <a:r>
              <a:rPr lang="en-US" dirty="0"/>
              <a:t> Preparing clear requirement documents, flowcharts, and reports.</a:t>
            </a:r>
          </a:p>
          <a:p>
            <a:r>
              <a:rPr lang="en-US" b="1" dirty="0"/>
              <a:t>Stakeholder communication:</a:t>
            </a:r>
            <a:r>
              <a:rPr lang="en-US" dirty="0"/>
              <a:t> Acting as a link between stakeholders and technical teams to ensure clarity and alignment.</a:t>
            </a:r>
          </a:p>
        </p:txBody>
      </p:sp>
    </p:spTree>
    <p:extLst>
      <p:ext uri="{BB962C8B-B14F-4D97-AF65-F5344CB8AC3E}">
        <p14:creationId xmlns:p14="http://schemas.microsoft.com/office/powerpoint/2010/main" val="2052665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6842-8D14-9A72-7CD5-65FF364F3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6CA7F-4241-822D-6D36-902AA8D20B0B}"/>
              </a:ext>
            </a:extLst>
          </p:cNvPr>
          <p:cNvSpPr>
            <a:spLocks noGrp="1"/>
          </p:cNvSpPr>
          <p:nvPr>
            <p:ph type="title"/>
          </p:nvPr>
        </p:nvSpPr>
        <p:spPr/>
        <p:txBody>
          <a:bodyPr/>
          <a:lstStyle/>
          <a:p>
            <a:r>
              <a:rPr lang="en-US" b="1" dirty="0"/>
              <a:t>Key Skills for Business Analysts</a:t>
            </a:r>
            <a:endParaRPr lang="en-IN" b="1" dirty="0"/>
          </a:p>
        </p:txBody>
      </p:sp>
      <p:sp>
        <p:nvSpPr>
          <p:cNvPr id="3" name="Content Placeholder 2">
            <a:extLst>
              <a:ext uri="{FF2B5EF4-FFF2-40B4-BE49-F238E27FC236}">
                <a16:creationId xmlns:a16="http://schemas.microsoft.com/office/drawing/2014/main" id="{1F12B37B-6ECC-B00C-D923-866D7C3E7BC3}"/>
              </a:ext>
            </a:extLst>
          </p:cNvPr>
          <p:cNvSpPr>
            <a:spLocks noGrp="1"/>
          </p:cNvSpPr>
          <p:nvPr>
            <p:ph idx="1"/>
          </p:nvPr>
        </p:nvSpPr>
        <p:spPr/>
        <p:txBody>
          <a:bodyPr anchor="ctr"/>
          <a:lstStyle/>
          <a:p>
            <a:r>
              <a:rPr lang="en-US" b="1" dirty="0"/>
              <a:t>Strong communication skills:</a:t>
            </a:r>
            <a:r>
              <a:rPr lang="en-US" dirty="0"/>
              <a:t> Clearly conveying ideas and requirements to stakeholders and technical teams.</a:t>
            </a:r>
          </a:p>
          <a:p>
            <a:r>
              <a:rPr lang="en-US" b="1" dirty="0"/>
              <a:t>Analytical thinking:</a:t>
            </a:r>
            <a:r>
              <a:rPr lang="en-US" dirty="0"/>
              <a:t> Analyzing data and processes to identify patterns and insights.</a:t>
            </a:r>
          </a:p>
          <a:p>
            <a:r>
              <a:rPr lang="en-US" b="1" dirty="0"/>
              <a:t>Problem-solving ability:</a:t>
            </a:r>
            <a:r>
              <a:rPr lang="en-US" dirty="0"/>
              <a:t> Finding effective solutions to business challenges.</a:t>
            </a:r>
          </a:p>
          <a:p>
            <a:r>
              <a:rPr lang="en-US" b="1" dirty="0"/>
              <a:t>Decision-making skills:</a:t>
            </a:r>
            <a:r>
              <a:rPr lang="en-US" dirty="0"/>
              <a:t> Evaluating options and supporting informed business decisions.</a:t>
            </a:r>
          </a:p>
        </p:txBody>
      </p:sp>
    </p:spTree>
    <p:extLst>
      <p:ext uri="{BB962C8B-B14F-4D97-AF65-F5344CB8AC3E}">
        <p14:creationId xmlns:p14="http://schemas.microsoft.com/office/powerpoint/2010/main" val="2921257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B982-93D2-D0AC-DD2D-995A70F18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B6DC4-84FB-7B5D-D92B-70A8AA51C422}"/>
              </a:ext>
            </a:extLst>
          </p:cNvPr>
          <p:cNvSpPr>
            <a:spLocks noGrp="1"/>
          </p:cNvSpPr>
          <p:nvPr>
            <p:ph type="title"/>
          </p:nvPr>
        </p:nvSpPr>
        <p:spPr/>
        <p:txBody>
          <a:bodyPr/>
          <a:lstStyle/>
          <a:p>
            <a:r>
              <a:rPr lang="en-IN" b="1" dirty="0"/>
              <a:t>Business Analysis Methodologies</a:t>
            </a:r>
          </a:p>
        </p:txBody>
      </p:sp>
      <p:sp>
        <p:nvSpPr>
          <p:cNvPr id="3" name="Content Placeholder 2">
            <a:extLst>
              <a:ext uri="{FF2B5EF4-FFF2-40B4-BE49-F238E27FC236}">
                <a16:creationId xmlns:a16="http://schemas.microsoft.com/office/drawing/2014/main" id="{2A5F744C-7605-4D83-C603-969956EE1FA6}"/>
              </a:ext>
            </a:extLst>
          </p:cNvPr>
          <p:cNvSpPr>
            <a:spLocks noGrp="1"/>
          </p:cNvSpPr>
          <p:nvPr>
            <p:ph idx="1"/>
          </p:nvPr>
        </p:nvSpPr>
        <p:spPr/>
        <p:txBody>
          <a:bodyPr anchor="ctr"/>
          <a:lstStyle/>
          <a:p>
            <a:pPr marL="45720" indent="0">
              <a:buNone/>
            </a:pPr>
            <a:r>
              <a:rPr lang="en-US" b="1" dirty="0"/>
              <a:t>Software development methodologies</a:t>
            </a:r>
            <a:r>
              <a:rPr lang="en-US" dirty="0"/>
              <a:t> define how projects are planned and executed.</a:t>
            </a:r>
          </a:p>
          <a:p>
            <a:r>
              <a:rPr lang="en-US" b="1" dirty="0"/>
              <a:t>Waterfall:</a:t>
            </a:r>
            <a:r>
              <a:rPr lang="en-US" dirty="0"/>
              <a:t> A </a:t>
            </a:r>
            <a:r>
              <a:rPr lang="en-US" b="1" dirty="0"/>
              <a:t>sequential approach</a:t>
            </a:r>
            <a:r>
              <a:rPr lang="en-US" dirty="0"/>
              <a:t> where each phase (requirements, design, development, testing) is completed before the next begins.</a:t>
            </a:r>
          </a:p>
          <a:p>
            <a:r>
              <a:rPr lang="en-US" b="1" dirty="0"/>
              <a:t>Agile:</a:t>
            </a:r>
            <a:r>
              <a:rPr lang="en-US" dirty="0"/>
              <a:t> A </a:t>
            </a:r>
            <a:r>
              <a:rPr lang="en-US" b="1" dirty="0"/>
              <a:t>flexible and iterative approach</a:t>
            </a:r>
            <a:r>
              <a:rPr lang="en-US" dirty="0"/>
              <a:t> that delivers work in small increments, allowing frequent feedback and changes.</a:t>
            </a:r>
          </a:p>
          <a:p>
            <a:r>
              <a:rPr lang="en-US" b="1" dirty="0"/>
              <a:t>Hybrid methodologies:</a:t>
            </a:r>
            <a:r>
              <a:rPr lang="en-US" dirty="0"/>
              <a:t> Combine elements of both Waterfall and Agile to suit specific project needs.</a:t>
            </a:r>
          </a:p>
        </p:txBody>
      </p:sp>
    </p:spTree>
    <p:extLst>
      <p:ext uri="{BB962C8B-B14F-4D97-AF65-F5344CB8AC3E}">
        <p14:creationId xmlns:p14="http://schemas.microsoft.com/office/powerpoint/2010/main" val="2114358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27E6-E972-E212-DD84-510666E47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330EF-5411-4BC5-4BEA-D78C7EB0B2A9}"/>
              </a:ext>
            </a:extLst>
          </p:cNvPr>
          <p:cNvSpPr>
            <a:spLocks noGrp="1"/>
          </p:cNvSpPr>
          <p:nvPr>
            <p:ph type="title"/>
          </p:nvPr>
        </p:nvSpPr>
        <p:spPr/>
        <p:txBody>
          <a:bodyPr/>
          <a:lstStyle/>
          <a:p>
            <a:r>
              <a:rPr lang="en-IN" b="1" dirty="0"/>
              <a:t>Stakeholder Management</a:t>
            </a:r>
          </a:p>
        </p:txBody>
      </p:sp>
      <p:sp>
        <p:nvSpPr>
          <p:cNvPr id="3" name="Content Placeholder 2">
            <a:extLst>
              <a:ext uri="{FF2B5EF4-FFF2-40B4-BE49-F238E27FC236}">
                <a16:creationId xmlns:a16="http://schemas.microsoft.com/office/drawing/2014/main" id="{DE3DAF40-D41A-07D8-665D-0FDC02CCBE95}"/>
              </a:ext>
            </a:extLst>
          </p:cNvPr>
          <p:cNvSpPr>
            <a:spLocks noGrp="1"/>
          </p:cNvSpPr>
          <p:nvPr>
            <p:ph idx="1"/>
          </p:nvPr>
        </p:nvSpPr>
        <p:spPr/>
        <p:txBody>
          <a:bodyPr anchor="ctr"/>
          <a:lstStyle/>
          <a:p>
            <a:pPr marL="45720" indent="0">
              <a:buNone/>
            </a:pPr>
            <a:r>
              <a:rPr lang="en-US" b="1" dirty="0"/>
              <a:t>Stakeholder management</a:t>
            </a:r>
            <a:r>
              <a:rPr lang="en-US" dirty="0"/>
              <a:t> involves effectively working with people who are affected by or have an interest in a project:</a:t>
            </a:r>
          </a:p>
          <a:p>
            <a:r>
              <a:rPr lang="en-US" b="1" dirty="0"/>
              <a:t>Identify stakeholders:</a:t>
            </a:r>
            <a:r>
              <a:rPr lang="en-US" dirty="0"/>
              <a:t> Determine all individuals or groups involved or impacted.</a:t>
            </a:r>
          </a:p>
          <a:p>
            <a:r>
              <a:rPr lang="en-US" b="1" dirty="0"/>
              <a:t>Understand expectations:</a:t>
            </a:r>
            <a:r>
              <a:rPr lang="en-US" dirty="0"/>
              <a:t> Learn what stakeholders need, want, and expect from the project.</a:t>
            </a:r>
          </a:p>
          <a:p>
            <a:r>
              <a:rPr lang="en-US" b="1" dirty="0"/>
              <a:t>Maintain clear communication:</a:t>
            </a:r>
            <a:r>
              <a:rPr lang="en-US" dirty="0"/>
              <a:t> Keep stakeholders informed, aligned, and engaged throughout the project.</a:t>
            </a:r>
          </a:p>
        </p:txBody>
      </p:sp>
    </p:spTree>
    <p:extLst>
      <p:ext uri="{BB962C8B-B14F-4D97-AF65-F5344CB8AC3E}">
        <p14:creationId xmlns:p14="http://schemas.microsoft.com/office/powerpoint/2010/main" val="3232664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CA7AF-9355-6A17-0BB7-0C28795C9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ABAF8-5B4E-7B60-8367-5BA3DDB5D0C0}"/>
              </a:ext>
            </a:extLst>
          </p:cNvPr>
          <p:cNvSpPr>
            <a:spLocks noGrp="1"/>
          </p:cNvSpPr>
          <p:nvPr>
            <p:ph type="title"/>
          </p:nvPr>
        </p:nvSpPr>
        <p:spPr/>
        <p:txBody>
          <a:bodyPr/>
          <a:lstStyle/>
          <a:p>
            <a:r>
              <a:rPr lang="en-IN" b="1" dirty="0"/>
              <a:t>Data vs Information</a:t>
            </a:r>
          </a:p>
        </p:txBody>
      </p:sp>
      <p:graphicFrame>
        <p:nvGraphicFramePr>
          <p:cNvPr id="10" name="Table 9">
            <a:extLst>
              <a:ext uri="{FF2B5EF4-FFF2-40B4-BE49-F238E27FC236}">
                <a16:creationId xmlns:a16="http://schemas.microsoft.com/office/drawing/2014/main" id="{A463AC2C-264D-C151-F7A7-411F12CC7CE5}"/>
              </a:ext>
            </a:extLst>
          </p:cNvPr>
          <p:cNvGraphicFramePr>
            <a:graphicFrameLocks noGrp="1"/>
          </p:cNvGraphicFramePr>
          <p:nvPr>
            <p:extLst>
              <p:ext uri="{D42A27DB-BD31-4B8C-83A1-F6EECF244321}">
                <p14:modId xmlns:p14="http://schemas.microsoft.com/office/powerpoint/2010/main" val="912356498"/>
              </p:ext>
            </p:extLst>
          </p:nvPr>
        </p:nvGraphicFramePr>
        <p:xfrm>
          <a:off x="1339738" y="2057399"/>
          <a:ext cx="9479187" cy="4038603"/>
        </p:xfrm>
        <a:graphic>
          <a:graphicData uri="http://schemas.openxmlformats.org/drawingml/2006/table">
            <a:tbl>
              <a:tblPr>
                <a:tableStyleId>{BC89EF96-8CEA-46FF-86C4-4CE0E7609802}</a:tableStyleId>
              </a:tblPr>
              <a:tblGrid>
                <a:gridCol w="3159729">
                  <a:extLst>
                    <a:ext uri="{9D8B030D-6E8A-4147-A177-3AD203B41FA5}">
                      <a16:colId xmlns:a16="http://schemas.microsoft.com/office/drawing/2014/main" val="3617794219"/>
                    </a:ext>
                  </a:extLst>
                </a:gridCol>
                <a:gridCol w="3159729">
                  <a:extLst>
                    <a:ext uri="{9D8B030D-6E8A-4147-A177-3AD203B41FA5}">
                      <a16:colId xmlns:a16="http://schemas.microsoft.com/office/drawing/2014/main" val="2119256104"/>
                    </a:ext>
                  </a:extLst>
                </a:gridCol>
                <a:gridCol w="3159729">
                  <a:extLst>
                    <a:ext uri="{9D8B030D-6E8A-4147-A177-3AD203B41FA5}">
                      <a16:colId xmlns:a16="http://schemas.microsoft.com/office/drawing/2014/main" val="1334593784"/>
                    </a:ext>
                  </a:extLst>
                </a:gridCol>
              </a:tblGrid>
              <a:tr h="351183">
                <a:tc>
                  <a:txBody>
                    <a:bodyPr/>
                    <a:lstStyle/>
                    <a:p>
                      <a:pPr>
                        <a:buNone/>
                      </a:pPr>
                      <a:r>
                        <a:rPr lang="en-IN" sz="1700" b="1">
                          <a:solidFill>
                            <a:schemeClr val="tx1"/>
                          </a:solidFill>
                        </a:rPr>
                        <a:t>Aspect</a:t>
                      </a:r>
                      <a:endParaRPr lang="en-IN" sz="1700">
                        <a:solidFill>
                          <a:schemeClr val="tx1"/>
                        </a:solidFill>
                        <a:latin typeface="+mn-lt"/>
                      </a:endParaRPr>
                    </a:p>
                  </a:txBody>
                  <a:tcPr marL="87796" marR="87796" marT="43898" marB="43898" anchor="ctr"/>
                </a:tc>
                <a:tc>
                  <a:txBody>
                    <a:bodyPr/>
                    <a:lstStyle/>
                    <a:p>
                      <a:pPr>
                        <a:buNone/>
                      </a:pPr>
                      <a:r>
                        <a:rPr lang="en-IN" sz="1700" b="1">
                          <a:solidFill>
                            <a:schemeClr val="tx1"/>
                          </a:solidFill>
                        </a:rPr>
                        <a:t>Data</a:t>
                      </a:r>
                      <a:endParaRPr lang="en-IN" sz="1700">
                        <a:solidFill>
                          <a:schemeClr val="tx1"/>
                        </a:solidFill>
                        <a:latin typeface="+mn-lt"/>
                      </a:endParaRPr>
                    </a:p>
                  </a:txBody>
                  <a:tcPr marL="87796" marR="87796" marT="43898" marB="43898" anchor="ctr"/>
                </a:tc>
                <a:tc>
                  <a:txBody>
                    <a:bodyPr/>
                    <a:lstStyle/>
                    <a:p>
                      <a:pPr>
                        <a:buNone/>
                      </a:pPr>
                      <a:r>
                        <a:rPr lang="en-IN" sz="1700" b="1">
                          <a:solidFill>
                            <a:schemeClr val="tx1"/>
                          </a:solidFill>
                        </a:rPr>
                        <a:t>Information</a:t>
                      </a:r>
                      <a:endParaRPr lang="en-IN" sz="1700">
                        <a:solidFill>
                          <a:schemeClr val="tx1"/>
                        </a:solidFill>
                        <a:latin typeface="+mn-lt"/>
                      </a:endParaRPr>
                    </a:p>
                  </a:txBody>
                  <a:tcPr marL="87796" marR="87796" marT="43898" marB="43898" anchor="ctr"/>
                </a:tc>
                <a:extLst>
                  <a:ext uri="{0D108BD9-81ED-4DB2-BD59-A6C34878D82A}">
                    <a16:rowId xmlns:a16="http://schemas.microsoft.com/office/drawing/2014/main" val="226587513"/>
                  </a:ext>
                </a:extLst>
              </a:tr>
              <a:tr h="614570">
                <a:tc>
                  <a:txBody>
                    <a:bodyPr/>
                    <a:lstStyle/>
                    <a:p>
                      <a:pPr>
                        <a:buNone/>
                      </a:pPr>
                      <a:r>
                        <a:rPr lang="en-IN" sz="1700" b="1" dirty="0">
                          <a:solidFill>
                            <a:schemeClr val="tx1"/>
                          </a:solidFill>
                        </a:rPr>
                        <a:t>Definition</a:t>
                      </a:r>
                      <a:endParaRPr lang="en-IN" sz="1700" dirty="0">
                        <a:solidFill>
                          <a:schemeClr val="tx1"/>
                        </a:solidFill>
                        <a:latin typeface="+mn-lt"/>
                      </a:endParaRPr>
                    </a:p>
                  </a:txBody>
                  <a:tcPr marL="87796" marR="87796" marT="43898" marB="43898" anchor="ctr"/>
                </a:tc>
                <a:tc>
                  <a:txBody>
                    <a:bodyPr/>
                    <a:lstStyle/>
                    <a:p>
                      <a:pPr>
                        <a:buNone/>
                      </a:pPr>
                      <a:r>
                        <a:rPr lang="en-US" sz="1700">
                          <a:solidFill>
                            <a:schemeClr val="tx1"/>
                          </a:solidFill>
                        </a:rPr>
                        <a:t>Raw facts and figures without context.</a:t>
                      </a:r>
                      <a:endParaRPr lang="en-US" sz="1700">
                        <a:solidFill>
                          <a:schemeClr val="tx1"/>
                        </a:solidFill>
                        <a:latin typeface="+mn-lt"/>
                      </a:endParaRPr>
                    </a:p>
                  </a:txBody>
                  <a:tcPr marL="87796" marR="87796" marT="43898" marB="43898" anchor="ctr"/>
                </a:tc>
                <a:tc>
                  <a:txBody>
                    <a:bodyPr/>
                    <a:lstStyle/>
                    <a:p>
                      <a:pPr>
                        <a:buNone/>
                      </a:pPr>
                      <a:r>
                        <a:rPr lang="en-US" sz="1700">
                          <a:solidFill>
                            <a:schemeClr val="tx1"/>
                          </a:solidFill>
                        </a:rPr>
                        <a:t>Processed and organized data that is meaningful.</a:t>
                      </a:r>
                      <a:endParaRPr lang="en-US" sz="1700">
                        <a:solidFill>
                          <a:schemeClr val="tx1"/>
                        </a:solidFill>
                        <a:latin typeface="+mn-lt"/>
                      </a:endParaRPr>
                    </a:p>
                  </a:txBody>
                  <a:tcPr marL="87796" marR="87796" marT="43898" marB="43898" anchor="ctr"/>
                </a:tc>
                <a:extLst>
                  <a:ext uri="{0D108BD9-81ED-4DB2-BD59-A6C34878D82A}">
                    <a16:rowId xmlns:a16="http://schemas.microsoft.com/office/drawing/2014/main" val="885880989"/>
                  </a:ext>
                </a:extLst>
              </a:tr>
              <a:tr h="614570">
                <a:tc>
                  <a:txBody>
                    <a:bodyPr/>
                    <a:lstStyle/>
                    <a:p>
                      <a:pPr>
                        <a:buNone/>
                      </a:pPr>
                      <a:r>
                        <a:rPr lang="en-IN" sz="1700" b="1">
                          <a:solidFill>
                            <a:schemeClr val="tx1"/>
                          </a:solidFill>
                        </a:rPr>
                        <a:t>Meaning</a:t>
                      </a:r>
                      <a:endParaRPr lang="en-IN" sz="1700">
                        <a:solidFill>
                          <a:schemeClr val="tx1"/>
                        </a:solidFill>
                        <a:latin typeface="+mn-lt"/>
                      </a:endParaRPr>
                    </a:p>
                  </a:txBody>
                  <a:tcPr marL="87796" marR="87796" marT="43898" marB="43898" anchor="ctr"/>
                </a:tc>
                <a:tc>
                  <a:txBody>
                    <a:bodyPr/>
                    <a:lstStyle/>
                    <a:p>
                      <a:pPr>
                        <a:buNone/>
                      </a:pPr>
                      <a:r>
                        <a:rPr lang="en-IN" sz="1700">
                          <a:solidFill>
                            <a:schemeClr val="tx1"/>
                          </a:solidFill>
                        </a:rPr>
                        <a:t>Has no inherent meaning.</a:t>
                      </a:r>
                      <a:endParaRPr lang="en-IN" sz="1700">
                        <a:solidFill>
                          <a:schemeClr val="tx1"/>
                        </a:solidFill>
                        <a:latin typeface="+mn-lt"/>
                      </a:endParaRPr>
                    </a:p>
                  </a:txBody>
                  <a:tcPr marL="87796" marR="87796" marT="43898" marB="43898" anchor="ctr"/>
                </a:tc>
                <a:tc>
                  <a:txBody>
                    <a:bodyPr/>
                    <a:lstStyle/>
                    <a:p>
                      <a:pPr>
                        <a:buNone/>
                      </a:pPr>
                      <a:r>
                        <a:rPr lang="en-US" sz="1700">
                          <a:solidFill>
                            <a:schemeClr val="tx1"/>
                          </a:solidFill>
                        </a:rPr>
                        <a:t>Has meaning and is useful for decision-making.</a:t>
                      </a:r>
                      <a:endParaRPr lang="en-US" sz="1700">
                        <a:solidFill>
                          <a:schemeClr val="tx1"/>
                        </a:solidFill>
                        <a:latin typeface="+mn-lt"/>
                      </a:endParaRPr>
                    </a:p>
                  </a:txBody>
                  <a:tcPr marL="87796" marR="87796" marT="43898" marB="43898" anchor="ctr"/>
                </a:tc>
                <a:extLst>
                  <a:ext uri="{0D108BD9-81ED-4DB2-BD59-A6C34878D82A}">
                    <a16:rowId xmlns:a16="http://schemas.microsoft.com/office/drawing/2014/main" val="1372336701"/>
                  </a:ext>
                </a:extLst>
              </a:tr>
              <a:tr h="614570">
                <a:tc>
                  <a:txBody>
                    <a:bodyPr/>
                    <a:lstStyle/>
                    <a:p>
                      <a:pPr>
                        <a:buNone/>
                      </a:pPr>
                      <a:r>
                        <a:rPr lang="en-IN" sz="1700" b="1">
                          <a:solidFill>
                            <a:schemeClr val="tx1"/>
                          </a:solidFill>
                        </a:rPr>
                        <a:t>Format</a:t>
                      </a:r>
                      <a:endParaRPr lang="en-IN" sz="1700">
                        <a:solidFill>
                          <a:schemeClr val="tx1"/>
                        </a:solidFill>
                        <a:latin typeface="+mn-lt"/>
                      </a:endParaRPr>
                    </a:p>
                  </a:txBody>
                  <a:tcPr marL="87796" marR="87796" marT="43898" marB="43898" anchor="ctr"/>
                </a:tc>
                <a:tc>
                  <a:txBody>
                    <a:bodyPr/>
                    <a:lstStyle/>
                    <a:p>
                      <a:pPr>
                        <a:buNone/>
                      </a:pPr>
                      <a:r>
                        <a:rPr lang="en-US" sz="1700">
                          <a:solidFill>
                            <a:schemeClr val="tx1"/>
                          </a:solidFill>
                        </a:rPr>
                        <a:t>Numbers, text, symbols, or observations.</a:t>
                      </a:r>
                      <a:endParaRPr lang="en-US" sz="1700">
                        <a:solidFill>
                          <a:schemeClr val="tx1"/>
                        </a:solidFill>
                        <a:latin typeface="+mn-lt"/>
                      </a:endParaRPr>
                    </a:p>
                  </a:txBody>
                  <a:tcPr marL="87796" marR="87796" marT="43898" marB="43898" anchor="ctr"/>
                </a:tc>
                <a:tc>
                  <a:txBody>
                    <a:bodyPr/>
                    <a:lstStyle/>
                    <a:p>
                      <a:pPr>
                        <a:buNone/>
                      </a:pPr>
                      <a:r>
                        <a:rPr lang="en-US" sz="1700">
                          <a:solidFill>
                            <a:schemeClr val="tx1"/>
                          </a:solidFill>
                        </a:rPr>
                        <a:t>Structured or summarized form derived from data.</a:t>
                      </a:r>
                      <a:endParaRPr lang="en-US" sz="1700">
                        <a:solidFill>
                          <a:schemeClr val="tx1"/>
                        </a:solidFill>
                        <a:latin typeface="+mn-lt"/>
                      </a:endParaRPr>
                    </a:p>
                  </a:txBody>
                  <a:tcPr marL="87796" marR="87796" marT="43898" marB="43898" anchor="ctr"/>
                </a:tc>
                <a:extLst>
                  <a:ext uri="{0D108BD9-81ED-4DB2-BD59-A6C34878D82A}">
                    <a16:rowId xmlns:a16="http://schemas.microsoft.com/office/drawing/2014/main" val="4226603710"/>
                  </a:ext>
                </a:extLst>
              </a:tr>
              <a:tr h="614570">
                <a:tc>
                  <a:txBody>
                    <a:bodyPr/>
                    <a:lstStyle/>
                    <a:p>
                      <a:pPr>
                        <a:buNone/>
                      </a:pPr>
                      <a:r>
                        <a:rPr lang="en-IN" sz="1700" b="1">
                          <a:solidFill>
                            <a:schemeClr val="tx1"/>
                          </a:solidFill>
                        </a:rPr>
                        <a:t>Purpose</a:t>
                      </a:r>
                      <a:endParaRPr lang="en-IN" sz="1700">
                        <a:solidFill>
                          <a:schemeClr val="tx1"/>
                        </a:solidFill>
                        <a:latin typeface="+mn-lt"/>
                      </a:endParaRPr>
                    </a:p>
                  </a:txBody>
                  <a:tcPr marL="87796" marR="87796" marT="43898" marB="43898" anchor="ctr"/>
                </a:tc>
                <a:tc>
                  <a:txBody>
                    <a:bodyPr/>
                    <a:lstStyle/>
                    <a:p>
                      <a:pPr>
                        <a:buNone/>
                      </a:pPr>
                      <a:r>
                        <a:rPr lang="en-US" sz="1700">
                          <a:solidFill>
                            <a:schemeClr val="tx1"/>
                          </a:solidFill>
                        </a:rPr>
                        <a:t>To be processed or analyzed.</a:t>
                      </a:r>
                      <a:endParaRPr lang="en-US" sz="1700">
                        <a:solidFill>
                          <a:schemeClr val="tx1"/>
                        </a:solidFill>
                        <a:latin typeface="+mn-lt"/>
                      </a:endParaRPr>
                    </a:p>
                  </a:txBody>
                  <a:tcPr marL="87796" marR="87796" marT="43898" marB="43898" anchor="ctr"/>
                </a:tc>
                <a:tc>
                  <a:txBody>
                    <a:bodyPr/>
                    <a:lstStyle/>
                    <a:p>
                      <a:pPr>
                        <a:buNone/>
                      </a:pPr>
                      <a:r>
                        <a:rPr lang="en-US" sz="1700">
                          <a:solidFill>
                            <a:schemeClr val="tx1"/>
                          </a:solidFill>
                        </a:rPr>
                        <a:t>To support understanding and decisions.</a:t>
                      </a:r>
                      <a:endParaRPr lang="en-US" sz="1700">
                        <a:solidFill>
                          <a:schemeClr val="tx1"/>
                        </a:solidFill>
                        <a:latin typeface="+mn-lt"/>
                      </a:endParaRPr>
                    </a:p>
                  </a:txBody>
                  <a:tcPr marL="87796" marR="87796" marT="43898" marB="43898" anchor="ctr"/>
                </a:tc>
                <a:extLst>
                  <a:ext uri="{0D108BD9-81ED-4DB2-BD59-A6C34878D82A}">
                    <a16:rowId xmlns:a16="http://schemas.microsoft.com/office/drawing/2014/main" val="2418740164"/>
                  </a:ext>
                </a:extLst>
              </a:tr>
              <a:tr h="614570">
                <a:tc>
                  <a:txBody>
                    <a:bodyPr/>
                    <a:lstStyle/>
                    <a:p>
                      <a:pPr>
                        <a:buNone/>
                      </a:pPr>
                      <a:r>
                        <a:rPr lang="en-IN" sz="1700" b="1">
                          <a:solidFill>
                            <a:schemeClr val="tx1"/>
                          </a:solidFill>
                        </a:rPr>
                        <a:t>Example</a:t>
                      </a:r>
                      <a:endParaRPr lang="en-IN" sz="1700">
                        <a:solidFill>
                          <a:schemeClr val="tx1"/>
                        </a:solidFill>
                        <a:latin typeface="+mn-lt"/>
                      </a:endParaRPr>
                    </a:p>
                  </a:txBody>
                  <a:tcPr marL="87796" marR="87796" marT="43898" marB="43898" anchor="ctr"/>
                </a:tc>
                <a:tc>
                  <a:txBody>
                    <a:bodyPr/>
                    <a:lstStyle/>
                    <a:p>
                      <a:pPr>
                        <a:buNone/>
                      </a:pPr>
                      <a:r>
                        <a:rPr lang="en-IN" sz="1700">
                          <a:solidFill>
                            <a:schemeClr val="tx1"/>
                          </a:solidFill>
                        </a:rPr>
                        <a:t>120, 200, 350</a:t>
                      </a:r>
                      <a:endParaRPr lang="en-IN" sz="1700">
                        <a:solidFill>
                          <a:schemeClr val="tx1"/>
                        </a:solidFill>
                        <a:latin typeface="+mn-lt"/>
                      </a:endParaRPr>
                    </a:p>
                  </a:txBody>
                  <a:tcPr marL="87796" marR="87796" marT="43898" marB="43898" anchor="ctr"/>
                </a:tc>
                <a:tc>
                  <a:txBody>
                    <a:bodyPr/>
                    <a:lstStyle/>
                    <a:p>
                      <a:pPr>
                        <a:buNone/>
                      </a:pPr>
                      <a:r>
                        <a:rPr lang="en-US" sz="1700">
                          <a:solidFill>
                            <a:schemeClr val="tx1"/>
                          </a:solidFill>
                        </a:rPr>
                        <a:t>Total sales for January are 670 units.</a:t>
                      </a:r>
                      <a:endParaRPr lang="en-US" sz="1700">
                        <a:solidFill>
                          <a:schemeClr val="tx1"/>
                        </a:solidFill>
                        <a:latin typeface="+mn-lt"/>
                      </a:endParaRPr>
                    </a:p>
                  </a:txBody>
                  <a:tcPr marL="87796" marR="87796" marT="43898" marB="43898" anchor="ctr"/>
                </a:tc>
                <a:extLst>
                  <a:ext uri="{0D108BD9-81ED-4DB2-BD59-A6C34878D82A}">
                    <a16:rowId xmlns:a16="http://schemas.microsoft.com/office/drawing/2014/main" val="1679720920"/>
                  </a:ext>
                </a:extLst>
              </a:tr>
              <a:tr h="614570">
                <a:tc>
                  <a:txBody>
                    <a:bodyPr/>
                    <a:lstStyle/>
                    <a:p>
                      <a:pPr>
                        <a:buNone/>
                      </a:pPr>
                      <a:r>
                        <a:rPr lang="en-IN" sz="1700" b="1">
                          <a:solidFill>
                            <a:schemeClr val="tx1"/>
                          </a:solidFill>
                        </a:rPr>
                        <a:t>Value</a:t>
                      </a:r>
                      <a:endParaRPr lang="en-IN" sz="1700">
                        <a:solidFill>
                          <a:schemeClr val="tx1"/>
                        </a:solidFill>
                        <a:latin typeface="+mn-lt"/>
                      </a:endParaRPr>
                    </a:p>
                  </a:txBody>
                  <a:tcPr marL="87796" marR="87796" marT="43898" marB="43898" anchor="ctr"/>
                </a:tc>
                <a:tc>
                  <a:txBody>
                    <a:bodyPr/>
                    <a:lstStyle/>
                    <a:p>
                      <a:pPr>
                        <a:buNone/>
                      </a:pPr>
                      <a:r>
                        <a:rPr lang="en-US" sz="1700">
                          <a:solidFill>
                            <a:schemeClr val="tx1"/>
                          </a:solidFill>
                        </a:rPr>
                        <a:t>Low value on its own.</a:t>
                      </a:r>
                      <a:endParaRPr lang="en-US" sz="1700">
                        <a:solidFill>
                          <a:schemeClr val="tx1"/>
                        </a:solidFill>
                        <a:latin typeface="+mn-lt"/>
                      </a:endParaRPr>
                    </a:p>
                  </a:txBody>
                  <a:tcPr marL="87796" marR="87796" marT="43898" marB="43898" anchor="ctr"/>
                </a:tc>
                <a:tc>
                  <a:txBody>
                    <a:bodyPr/>
                    <a:lstStyle/>
                    <a:p>
                      <a:pPr>
                        <a:buNone/>
                      </a:pPr>
                      <a:r>
                        <a:rPr lang="en-US" sz="1700" dirty="0">
                          <a:solidFill>
                            <a:schemeClr val="tx1"/>
                          </a:solidFill>
                        </a:rPr>
                        <a:t>High value as it helps in decision-making.</a:t>
                      </a:r>
                      <a:endParaRPr lang="en-US" sz="1700" dirty="0">
                        <a:solidFill>
                          <a:schemeClr val="tx1"/>
                        </a:solidFill>
                        <a:latin typeface="+mn-lt"/>
                      </a:endParaRPr>
                    </a:p>
                  </a:txBody>
                  <a:tcPr marL="87796" marR="87796" marT="43898" marB="43898" anchor="ctr"/>
                </a:tc>
                <a:extLst>
                  <a:ext uri="{0D108BD9-81ED-4DB2-BD59-A6C34878D82A}">
                    <a16:rowId xmlns:a16="http://schemas.microsoft.com/office/drawing/2014/main" val="1680730940"/>
                  </a:ext>
                </a:extLst>
              </a:tr>
            </a:tbl>
          </a:graphicData>
        </a:graphic>
      </p:graphicFrame>
    </p:spTree>
    <p:extLst>
      <p:ext uri="{BB962C8B-B14F-4D97-AF65-F5344CB8AC3E}">
        <p14:creationId xmlns:p14="http://schemas.microsoft.com/office/powerpoint/2010/main" val="1983156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AB1BD-FA65-4103-9317-E5CA71DFB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4169F-47AB-BDBC-F084-D432AB64CF3B}"/>
              </a:ext>
            </a:extLst>
          </p:cNvPr>
          <p:cNvSpPr>
            <a:spLocks noGrp="1"/>
          </p:cNvSpPr>
          <p:nvPr>
            <p:ph type="title"/>
          </p:nvPr>
        </p:nvSpPr>
        <p:spPr>
          <a:xfrm>
            <a:off x="1261872" y="365760"/>
            <a:ext cx="9557053" cy="1325562"/>
          </a:xfrm>
        </p:spPr>
        <p:txBody>
          <a:bodyPr/>
          <a:lstStyle/>
          <a:p>
            <a:r>
              <a:rPr lang="en-IN" b="1" dirty="0"/>
              <a:t>Raw Data vs Processed Information</a:t>
            </a:r>
          </a:p>
        </p:txBody>
      </p:sp>
      <p:graphicFrame>
        <p:nvGraphicFramePr>
          <p:cNvPr id="3" name="Table 2">
            <a:extLst>
              <a:ext uri="{FF2B5EF4-FFF2-40B4-BE49-F238E27FC236}">
                <a16:creationId xmlns:a16="http://schemas.microsoft.com/office/drawing/2014/main" id="{719C50D9-F667-AD1D-8577-7CBBEA8494A1}"/>
              </a:ext>
            </a:extLst>
          </p:cNvPr>
          <p:cNvGraphicFramePr>
            <a:graphicFrameLocks noGrp="1"/>
          </p:cNvGraphicFramePr>
          <p:nvPr>
            <p:extLst>
              <p:ext uri="{D42A27DB-BD31-4B8C-83A1-F6EECF244321}">
                <p14:modId xmlns:p14="http://schemas.microsoft.com/office/powerpoint/2010/main" val="138768888"/>
              </p:ext>
            </p:extLst>
          </p:nvPr>
        </p:nvGraphicFramePr>
        <p:xfrm>
          <a:off x="1339738" y="2057399"/>
          <a:ext cx="9479187" cy="4289069"/>
        </p:xfrm>
        <a:graphic>
          <a:graphicData uri="http://schemas.openxmlformats.org/drawingml/2006/table">
            <a:tbl>
              <a:tblPr>
                <a:tableStyleId>{BC89EF96-8CEA-46FF-86C4-4CE0E7609802}</a:tableStyleId>
              </a:tblPr>
              <a:tblGrid>
                <a:gridCol w="3159729">
                  <a:extLst>
                    <a:ext uri="{9D8B030D-6E8A-4147-A177-3AD203B41FA5}">
                      <a16:colId xmlns:a16="http://schemas.microsoft.com/office/drawing/2014/main" val="32339448"/>
                    </a:ext>
                  </a:extLst>
                </a:gridCol>
                <a:gridCol w="3159729">
                  <a:extLst>
                    <a:ext uri="{9D8B030D-6E8A-4147-A177-3AD203B41FA5}">
                      <a16:colId xmlns:a16="http://schemas.microsoft.com/office/drawing/2014/main" val="132360441"/>
                    </a:ext>
                  </a:extLst>
                </a:gridCol>
                <a:gridCol w="3159729">
                  <a:extLst>
                    <a:ext uri="{9D8B030D-6E8A-4147-A177-3AD203B41FA5}">
                      <a16:colId xmlns:a16="http://schemas.microsoft.com/office/drawing/2014/main" val="3131725604"/>
                    </a:ext>
                  </a:extLst>
                </a:gridCol>
              </a:tblGrid>
              <a:tr h="351183">
                <a:tc>
                  <a:txBody>
                    <a:bodyPr/>
                    <a:lstStyle/>
                    <a:p>
                      <a:pPr>
                        <a:buNone/>
                      </a:pPr>
                      <a:r>
                        <a:rPr lang="en-IN" sz="1700" b="1">
                          <a:solidFill>
                            <a:schemeClr val="tx1"/>
                          </a:solidFill>
                        </a:rPr>
                        <a:t>Aspect</a:t>
                      </a:r>
                      <a:endParaRPr lang="en-IN" sz="1700">
                        <a:solidFill>
                          <a:schemeClr val="tx1"/>
                        </a:solidFill>
                      </a:endParaRPr>
                    </a:p>
                  </a:txBody>
                  <a:tcPr marL="87796" marR="87796" marT="43898" marB="43898" anchor="ctr"/>
                </a:tc>
                <a:tc>
                  <a:txBody>
                    <a:bodyPr/>
                    <a:lstStyle/>
                    <a:p>
                      <a:pPr>
                        <a:buNone/>
                      </a:pPr>
                      <a:r>
                        <a:rPr lang="en-IN" sz="1700" b="1">
                          <a:solidFill>
                            <a:schemeClr val="tx1"/>
                          </a:solidFill>
                        </a:rPr>
                        <a:t>Raw Data</a:t>
                      </a:r>
                      <a:endParaRPr lang="en-IN" sz="1700">
                        <a:solidFill>
                          <a:schemeClr val="tx1"/>
                        </a:solidFill>
                      </a:endParaRPr>
                    </a:p>
                  </a:txBody>
                  <a:tcPr marL="87796" marR="87796" marT="43898" marB="43898" anchor="ctr"/>
                </a:tc>
                <a:tc>
                  <a:txBody>
                    <a:bodyPr/>
                    <a:lstStyle/>
                    <a:p>
                      <a:pPr>
                        <a:buNone/>
                      </a:pPr>
                      <a:r>
                        <a:rPr lang="en-IN" sz="1700" b="1">
                          <a:solidFill>
                            <a:schemeClr val="tx1"/>
                          </a:solidFill>
                        </a:rPr>
                        <a:t>Processed Information</a:t>
                      </a:r>
                      <a:endParaRPr lang="en-IN" sz="1700">
                        <a:solidFill>
                          <a:schemeClr val="tx1"/>
                        </a:solidFill>
                      </a:endParaRPr>
                    </a:p>
                  </a:txBody>
                  <a:tcPr marL="87796" marR="87796" marT="43898" marB="43898" anchor="ctr"/>
                </a:tc>
                <a:extLst>
                  <a:ext uri="{0D108BD9-81ED-4DB2-BD59-A6C34878D82A}">
                    <a16:rowId xmlns:a16="http://schemas.microsoft.com/office/drawing/2014/main" val="1840304643"/>
                  </a:ext>
                </a:extLst>
              </a:tr>
              <a:tr h="614570">
                <a:tc>
                  <a:txBody>
                    <a:bodyPr/>
                    <a:lstStyle/>
                    <a:p>
                      <a:pPr>
                        <a:buNone/>
                      </a:pPr>
                      <a:r>
                        <a:rPr lang="en-IN" sz="1700" b="1" dirty="0">
                          <a:solidFill>
                            <a:schemeClr val="tx1"/>
                          </a:solidFill>
                        </a:rPr>
                        <a:t>Definition</a:t>
                      </a:r>
                      <a:endParaRPr lang="en-IN" sz="1700" dirty="0">
                        <a:solidFill>
                          <a:schemeClr val="tx1"/>
                        </a:solidFill>
                      </a:endParaRPr>
                    </a:p>
                  </a:txBody>
                  <a:tcPr marL="87796" marR="87796" marT="43898" marB="43898" anchor="ctr"/>
                </a:tc>
                <a:tc>
                  <a:txBody>
                    <a:bodyPr/>
                    <a:lstStyle/>
                    <a:p>
                      <a:pPr>
                        <a:buNone/>
                      </a:pPr>
                      <a:r>
                        <a:rPr lang="en-IN" sz="1700">
                          <a:solidFill>
                            <a:schemeClr val="tx1"/>
                          </a:solidFill>
                        </a:rPr>
                        <a:t>Unorganized facts and figures.</a:t>
                      </a:r>
                    </a:p>
                  </a:txBody>
                  <a:tcPr marL="87796" marR="87796" marT="43898" marB="43898" anchor="ctr"/>
                </a:tc>
                <a:tc>
                  <a:txBody>
                    <a:bodyPr/>
                    <a:lstStyle/>
                    <a:p>
                      <a:pPr>
                        <a:buNone/>
                      </a:pPr>
                      <a:r>
                        <a:rPr lang="en-US" sz="1700">
                          <a:solidFill>
                            <a:schemeClr val="tx1"/>
                          </a:solidFill>
                        </a:rPr>
                        <a:t>Data that has been analyzed and organized into meaningful form.</a:t>
                      </a:r>
                    </a:p>
                  </a:txBody>
                  <a:tcPr marL="87796" marR="87796" marT="43898" marB="43898" anchor="ctr"/>
                </a:tc>
                <a:extLst>
                  <a:ext uri="{0D108BD9-81ED-4DB2-BD59-A6C34878D82A}">
                    <a16:rowId xmlns:a16="http://schemas.microsoft.com/office/drawing/2014/main" val="3300588986"/>
                  </a:ext>
                </a:extLst>
              </a:tr>
              <a:tr h="614570">
                <a:tc>
                  <a:txBody>
                    <a:bodyPr/>
                    <a:lstStyle/>
                    <a:p>
                      <a:pPr>
                        <a:buNone/>
                      </a:pPr>
                      <a:r>
                        <a:rPr lang="en-IN" sz="1700" b="1">
                          <a:solidFill>
                            <a:schemeClr val="tx1"/>
                          </a:solidFill>
                        </a:rPr>
                        <a:t>Meaning</a:t>
                      </a:r>
                      <a:endParaRPr lang="en-IN" sz="1700">
                        <a:solidFill>
                          <a:schemeClr val="tx1"/>
                        </a:solidFill>
                      </a:endParaRPr>
                    </a:p>
                  </a:txBody>
                  <a:tcPr marL="87796" marR="87796" marT="43898" marB="43898" anchor="ctr"/>
                </a:tc>
                <a:tc>
                  <a:txBody>
                    <a:bodyPr/>
                    <a:lstStyle/>
                    <a:p>
                      <a:pPr>
                        <a:buNone/>
                      </a:pPr>
                      <a:r>
                        <a:rPr lang="en-US" sz="1700">
                          <a:solidFill>
                            <a:schemeClr val="tx1"/>
                          </a:solidFill>
                        </a:rPr>
                        <a:t>Has no meaning on its own.</a:t>
                      </a:r>
                    </a:p>
                  </a:txBody>
                  <a:tcPr marL="87796" marR="87796" marT="43898" marB="43898" anchor="ctr"/>
                </a:tc>
                <a:tc>
                  <a:txBody>
                    <a:bodyPr/>
                    <a:lstStyle/>
                    <a:p>
                      <a:pPr>
                        <a:buNone/>
                      </a:pPr>
                      <a:r>
                        <a:rPr lang="en-US" sz="1700">
                          <a:solidFill>
                            <a:schemeClr val="tx1"/>
                          </a:solidFill>
                        </a:rPr>
                        <a:t>Has meaning and is useful for decision-making.</a:t>
                      </a:r>
                    </a:p>
                  </a:txBody>
                  <a:tcPr marL="87796" marR="87796" marT="43898" marB="43898" anchor="ctr"/>
                </a:tc>
                <a:extLst>
                  <a:ext uri="{0D108BD9-81ED-4DB2-BD59-A6C34878D82A}">
                    <a16:rowId xmlns:a16="http://schemas.microsoft.com/office/drawing/2014/main" val="1454430545"/>
                  </a:ext>
                </a:extLst>
              </a:tr>
              <a:tr h="614570">
                <a:tc>
                  <a:txBody>
                    <a:bodyPr/>
                    <a:lstStyle/>
                    <a:p>
                      <a:pPr>
                        <a:buNone/>
                      </a:pPr>
                      <a:r>
                        <a:rPr lang="en-IN" sz="1700" b="1">
                          <a:solidFill>
                            <a:schemeClr val="tx1"/>
                          </a:solidFill>
                        </a:rPr>
                        <a:t>Format</a:t>
                      </a:r>
                      <a:endParaRPr lang="en-IN" sz="1700">
                        <a:solidFill>
                          <a:schemeClr val="tx1"/>
                        </a:solidFill>
                      </a:endParaRPr>
                    </a:p>
                  </a:txBody>
                  <a:tcPr marL="87796" marR="87796" marT="43898" marB="43898" anchor="ctr"/>
                </a:tc>
                <a:tc>
                  <a:txBody>
                    <a:bodyPr/>
                    <a:lstStyle/>
                    <a:p>
                      <a:pPr>
                        <a:buNone/>
                      </a:pPr>
                      <a:r>
                        <a:rPr lang="en-IN" sz="1700">
                          <a:solidFill>
                            <a:schemeClr val="tx1"/>
                          </a:solidFill>
                        </a:rPr>
                        <a:t>Numbers, text, symbols, observations.</a:t>
                      </a:r>
                    </a:p>
                  </a:txBody>
                  <a:tcPr marL="87796" marR="87796" marT="43898" marB="43898" anchor="ctr"/>
                </a:tc>
                <a:tc>
                  <a:txBody>
                    <a:bodyPr/>
                    <a:lstStyle/>
                    <a:p>
                      <a:pPr>
                        <a:buNone/>
                      </a:pPr>
                      <a:r>
                        <a:rPr lang="en-US" sz="1700">
                          <a:solidFill>
                            <a:schemeClr val="tx1"/>
                          </a:solidFill>
                        </a:rPr>
                        <a:t>Structured, summarized, or interpreted data.</a:t>
                      </a:r>
                    </a:p>
                  </a:txBody>
                  <a:tcPr marL="87796" marR="87796" marT="43898" marB="43898" anchor="ctr"/>
                </a:tc>
                <a:extLst>
                  <a:ext uri="{0D108BD9-81ED-4DB2-BD59-A6C34878D82A}">
                    <a16:rowId xmlns:a16="http://schemas.microsoft.com/office/drawing/2014/main" val="2940511026"/>
                  </a:ext>
                </a:extLst>
              </a:tr>
              <a:tr h="614570">
                <a:tc>
                  <a:txBody>
                    <a:bodyPr/>
                    <a:lstStyle/>
                    <a:p>
                      <a:pPr>
                        <a:buNone/>
                      </a:pPr>
                      <a:r>
                        <a:rPr lang="en-IN" sz="1700" b="1">
                          <a:solidFill>
                            <a:schemeClr val="tx1"/>
                          </a:solidFill>
                        </a:rPr>
                        <a:t>Purpose</a:t>
                      </a:r>
                      <a:endParaRPr lang="en-IN" sz="1700">
                        <a:solidFill>
                          <a:schemeClr val="tx1"/>
                        </a:solidFill>
                      </a:endParaRPr>
                    </a:p>
                  </a:txBody>
                  <a:tcPr marL="87796" marR="87796" marT="43898" marB="43898" anchor="ctr"/>
                </a:tc>
                <a:tc>
                  <a:txBody>
                    <a:bodyPr/>
                    <a:lstStyle/>
                    <a:p>
                      <a:pPr>
                        <a:buNone/>
                      </a:pPr>
                      <a:r>
                        <a:rPr lang="en-US" sz="1700">
                          <a:solidFill>
                            <a:schemeClr val="tx1"/>
                          </a:solidFill>
                        </a:rPr>
                        <a:t>To be collected for future processing.</a:t>
                      </a:r>
                    </a:p>
                  </a:txBody>
                  <a:tcPr marL="87796" marR="87796" marT="43898" marB="43898" anchor="ctr"/>
                </a:tc>
                <a:tc>
                  <a:txBody>
                    <a:bodyPr/>
                    <a:lstStyle/>
                    <a:p>
                      <a:pPr>
                        <a:buNone/>
                      </a:pPr>
                      <a:r>
                        <a:rPr lang="en-US" sz="1700">
                          <a:solidFill>
                            <a:schemeClr val="tx1"/>
                          </a:solidFill>
                        </a:rPr>
                        <a:t>To inform, guide decisions, and provide insights.</a:t>
                      </a:r>
                    </a:p>
                  </a:txBody>
                  <a:tcPr marL="87796" marR="87796" marT="43898" marB="43898" anchor="ctr"/>
                </a:tc>
                <a:extLst>
                  <a:ext uri="{0D108BD9-81ED-4DB2-BD59-A6C34878D82A}">
                    <a16:rowId xmlns:a16="http://schemas.microsoft.com/office/drawing/2014/main" val="1319833532"/>
                  </a:ext>
                </a:extLst>
              </a:tr>
              <a:tr h="614570">
                <a:tc>
                  <a:txBody>
                    <a:bodyPr/>
                    <a:lstStyle/>
                    <a:p>
                      <a:pPr>
                        <a:buNone/>
                      </a:pPr>
                      <a:r>
                        <a:rPr lang="en-IN" sz="1700" b="1">
                          <a:solidFill>
                            <a:schemeClr val="tx1"/>
                          </a:solidFill>
                        </a:rPr>
                        <a:t>Value</a:t>
                      </a:r>
                      <a:endParaRPr lang="en-IN" sz="1700">
                        <a:solidFill>
                          <a:schemeClr val="tx1"/>
                        </a:solidFill>
                      </a:endParaRPr>
                    </a:p>
                  </a:txBody>
                  <a:tcPr marL="87796" marR="87796" marT="43898" marB="43898" anchor="ctr"/>
                </a:tc>
                <a:tc>
                  <a:txBody>
                    <a:bodyPr/>
                    <a:lstStyle/>
                    <a:p>
                      <a:pPr>
                        <a:buNone/>
                      </a:pPr>
                      <a:r>
                        <a:rPr lang="en-IN" sz="1700">
                          <a:solidFill>
                            <a:schemeClr val="tx1"/>
                          </a:solidFill>
                        </a:rPr>
                        <a:t>Low value until processed.</a:t>
                      </a:r>
                    </a:p>
                  </a:txBody>
                  <a:tcPr marL="87796" marR="87796" marT="43898" marB="43898" anchor="ctr"/>
                </a:tc>
                <a:tc>
                  <a:txBody>
                    <a:bodyPr/>
                    <a:lstStyle/>
                    <a:p>
                      <a:pPr>
                        <a:buNone/>
                      </a:pPr>
                      <a:r>
                        <a:rPr lang="en-US" sz="1700">
                          <a:solidFill>
                            <a:schemeClr val="tx1"/>
                          </a:solidFill>
                        </a:rPr>
                        <a:t>High value as it supports actions and decisions.</a:t>
                      </a:r>
                    </a:p>
                  </a:txBody>
                  <a:tcPr marL="87796" marR="87796" marT="43898" marB="43898" anchor="ctr"/>
                </a:tc>
                <a:extLst>
                  <a:ext uri="{0D108BD9-81ED-4DB2-BD59-A6C34878D82A}">
                    <a16:rowId xmlns:a16="http://schemas.microsoft.com/office/drawing/2014/main" val="2229348088"/>
                  </a:ext>
                </a:extLst>
              </a:tr>
              <a:tr h="614570">
                <a:tc>
                  <a:txBody>
                    <a:bodyPr/>
                    <a:lstStyle/>
                    <a:p>
                      <a:pPr>
                        <a:buNone/>
                      </a:pPr>
                      <a:r>
                        <a:rPr lang="en-IN" sz="1700" b="1">
                          <a:solidFill>
                            <a:schemeClr val="tx1"/>
                          </a:solidFill>
                        </a:rPr>
                        <a:t>Example</a:t>
                      </a:r>
                      <a:endParaRPr lang="en-IN" sz="1700">
                        <a:solidFill>
                          <a:schemeClr val="tx1"/>
                        </a:solidFill>
                      </a:endParaRPr>
                    </a:p>
                  </a:txBody>
                  <a:tcPr marL="87796" marR="87796" marT="43898" marB="43898" anchor="ctr"/>
                </a:tc>
                <a:tc>
                  <a:txBody>
                    <a:bodyPr/>
                    <a:lstStyle/>
                    <a:p>
                      <a:pPr>
                        <a:buNone/>
                      </a:pPr>
                      <a:r>
                        <a:rPr lang="en-IN" sz="1700" dirty="0">
                          <a:solidFill>
                            <a:schemeClr val="tx1"/>
                          </a:solidFill>
                        </a:rPr>
                        <a:t>100, 200, 150, 300</a:t>
                      </a:r>
                      <a:endParaRPr lang="en-IN" sz="1700" dirty="0">
                        <a:solidFill>
                          <a:schemeClr val="tx1"/>
                        </a:solidFill>
                        <a:latin typeface="+mn-lt"/>
                      </a:endParaRPr>
                    </a:p>
                  </a:txBody>
                  <a:tcPr marL="87796" marR="87796" marT="43898" marB="43898" anchor="ctr"/>
                </a:tc>
                <a:tc>
                  <a:txBody>
                    <a:bodyPr/>
                    <a:lstStyle/>
                    <a:p>
                      <a:pPr>
                        <a:buNone/>
                      </a:pPr>
                      <a:r>
                        <a:rPr lang="en-US" sz="1700" dirty="0">
                          <a:solidFill>
                            <a:schemeClr val="tx1"/>
                          </a:solidFill>
                        </a:rPr>
                        <a:t>Total revenue for Q1 is $750</a:t>
                      </a:r>
                      <a:endParaRPr lang="en-US" sz="1700" dirty="0">
                        <a:solidFill>
                          <a:schemeClr val="tx1"/>
                        </a:solidFill>
                        <a:latin typeface="+mn-lt"/>
                      </a:endParaRPr>
                    </a:p>
                  </a:txBody>
                  <a:tcPr marL="87796" marR="87796" marT="43898" marB="43898" anchor="ctr"/>
                </a:tc>
                <a:extLst>
                  <a:ext uri="{0D108BD9-81ED-4DB2-BD59-A6C34878D82A}">
                    <a16:rowId xmlns:a16="http://schemas.microsoft.com/office/drawing/2014/main" val="1934333617"/>
                  </a:ext>
                </a:extLst>
              </a:tr>
            </a:tbl>
          </a:graphicData>
        </a:graphic>
      </p:graphicFrame>
    </p:spTree>
    <p:extLst>
      <p:ext uri="{BB962C8B-B14F-4D97-AF65-F5344CB8AC3E}">
        <p14:creationId xmlns:p14="http://schemas.microsoft.com/office/powerpoint/2010/main" val="2768274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DCBA35-CD9C-67AE-7C95-1B5E96932EB0}"/>
              </a:ext>
            </a:extLst>
          </p:cNvPr>
          <p:cNvSpPr>
            <a:spLocks noGrp="1"/>
          </p:cNvSpPr>
          <p:nvPr>
            <p:ph type="title"/>
          </p:nvPr>
        </p:nvSpPr>
        <p:spPr/>
        <p:txBody>
          <a:bodyPr/>
          <a:lstStyle/>
          <a:p>
            <a:r>
              <a:rPr lang="en-US" b="1" dirty="0"/>
              <a:t>Data, Information and Knowledge</a:t>
            </a:r>
            <a:endParaRPr lang="en-IN" dirty="0"/>
          </a:p>
        </p:txBody>
      </p:sp>
      <p:sp>
        <p:nvSpPr>
          <p:cNvPr id="5" name="Content Placeholder 4">
            <a:extLst>
              <a:ext uri="{FF2B5EF4-FFF2-40B4-BE49-F238E27FC236}">
                <a16:creationId xmlns:a16="http://schemas.microsoft.com/office/drawing/2014/main" id="{65FE7273-C030-A203-F7FE-D7836E559710}"/>
              </a:ext>
            </a:extLst>
          </p:cNvPr>
          <p:cNvSpPr>
            <a:spLocks noGrp="1"/>
          </p:cNvSpPr>
          <p:nvPr>
            <p:ph idx="1"/>
          </p:nvPr>
        </p:nvSpPr>
        <p:spPr/>
        <p:txBody>
          <a:bodyPr anchor="ctr"/>
          <a:lstStyle/>
          <a:p>
            <a:r>
              <a:rPr lang="en-US" b="1" dirty="0"/>
              <a:t>Data:</a:t>
            </a:r>
            <a:r>
              <a:rPr lang="en-US" dirty="0"/>
              <a:t> Raw facts and figures are </a:t>
            </a:r>
            <a:r>
              <a:rPr lang="en-US" b="1" dirty="0"/>
              <a:t>collected</a:t>
            </a:r>
            <a:r>
              <a:rPr lang="en-US" dirty="0"/>
              <a:t> from various sources. By themselves, they have no meaning.</a:t>
            </a:r>
          </a:p>
          <a:p>
            <a:r>
              <a:rPr lang="en-US" b="1" dirty="0"/>
              <a:t>Information:</a:t>
            </a:r>
            <a:r>
              <a:rPr lang="en-US" dirty="0"/>
              <a:t> When data is </a:t>
            </a:r>
            <a:r>
              <a:rPr lang="en-US" b="1" dirty="0"/>
              <a:t>analyzed, organized, and processed</a:t>
            </a:r>
            <a:r>
              <a:rPr lang="en-US" dirty="0"/>
              <a:t>, it becomes meaningful information.</a:t>
            </a:r>
          </a:p>
          <a:p>
            <a:r>
              <a:rPr lang="en-US" b="1" dirty="0"/>
              <a:t>Knowledge:</a:t>
            </a:r>
            <a:r>
              <a:rPr lang="en-US" dirty="0"/>
              <a:t> When information is </a:t>
            </a:r>
            <a:r>
              <a:rPr lang="en-US" b="1" dirty="0"/>
              <a:t>understood, interpreted, and applied</a:t>
            </a:r>
            <a:r>
              <a:rPr lang="en-US" dirty="0"/>
              <a:t>, it turns into knowledge that helps in decision-making and problem-solving.</a:t>
            </a:r>
          </a:p>
          <a:p>
            <a:pPr marL="45720" indent="0">
              <a:buNone/>
            </a:pPr>
            <a:r>
              <a:rPr lang="en-US" dirty="0"/>
              <a:t>In short: </a:t>
            </a:r>
            <a:r>
              <a:rPr lang="en-US" b="1" dirty="0"/>
              <a:t>Data is collected → analyzed into information → applied as knowledge.</a:t>
            </a:r>
            <a:endParaRPr lang="en-US" dirty="0"/>
          </a:p>
        </p:txBody>
      </p:sp>
    </p:spTree>
    <p:extLst>
      <p:ext uri="{BB962C8B-B14F-4D97-AF65-F5344CB8AC3E}">
        <p14:creationId xmlns:p14="http://schemas.microsoft.com/office/powerpoint/2010/main" val="1327638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626A-B2E2-3064-07EF-027B40711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CD211-4B3B-6580-8641-7205452F3603}"/>
              </a:ext>
            </a:extLst>
          </p:cNvPr>
          <p:cNvSpPr>
            <a:spLocks noGrp="1"/>
          </p:cNvSpPr>
          <p:nvPr>
            <p:ph type="title"/>
          </p:nvPr>
        </p:nvSpPr>
        <p:spPr>
          <a:xfrm>
            <a:off x="1261872" y="365760"/>
            <a:ext cx="9064885" cy="1325562"/>
          </a:xfrm>
        </p:spPr>
        <p:txBody>
          <a:bodyPr/>
          <a:lstStyle/>
          <a:p>
            <a:r>
              <a:rPr lang="en-US" b="1" dirty="0"/>
              <a:t>Value of Information in Decision Making</a:t>
            </a:r>
            <a:endParaRPr lang="en-IN" b="1" dirty="0"/>
          </a:p>
        </p:txBody>
      </p:sp>
      <p:sp>
        <p:nvSpPr>
          <p:cNvPr id="3" name="Content Placeholder 2">
            <a:extLst>
              <a:ext uri="{FF2B5EF4-FFF2-40B4-BE49-F238E27FC236}">
                <a16:creationId xmlns:a16="http://schemas.microsoft.com/office/drawing/2014/main" id="{226A921E-60E5-AD27-A734-A7CC36C8AE14}"/>
              </a:ext>
            </a:extLst>
          </p:cNvPr>
          <p:cNvSpPr>
            <a:spLocks noGrp="1"/>
          </p:cNvSpPr>
          <p:nvPr>
            <p:ph idx="1"/>
          </p:nvPr>
        </p:nvSpPr>
        <p:spPr/>
        <p:txBody>
          <a:bodyPr anchor="ctr"/>
          <a:lstStyle/>
          <a:p>
            <a:r>
              <a:rPr lang="en-US" b="1" dirty="0"/>
              <a:t>Reduces uncertainty:</a:t>
            </a:r>
            <a:r>
              <a:rPr lang="en-US" dirty="0"/>
              <a:t> Provides clear insights that help managers make confident decisions.</a:t>
            </a:r>
          </a:p>
          <a:p>
            <a:r>
              <a:rPr lang="en-US" b="1" dirty="0"/>
              <a:t>Improves accuracy:</a:t>
            </a:r>
            <a:r>
              <a:rPr lang="en-US" dirty="0"/>
              <a:t> Ensures decisions are based on correct and reliable data.</a:t>
            </a:r>
          </a:p>
          <a:p>
            <a:r>
              <a:rPr lang="en-US" b="1" dirty="0"/>
              <a:t>Supports strategic planning:</a:t>
            </a:r>
            <a:r>
              <a:rPr lang="en-US" dirty="0"/>
              <a:t> Helps organizations plan future actions and achieve long-term goals effectively.</a:t>
            </a:r>
          </a:p>
        </p:txBody>
      </p:sp>
    </p:spTree>
    <p:extLst>
      <p:ext uri="{BB962C8B-B14F-4D97-AF65-F5344CB8AC3E}">
        <p14:creationId xmlns:p14="http://schemas.microsoft.com/office/powerpoint/2010/main" val="3814633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C8A87-813B-D3A3-FF81-2DC7117BB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1C859-978E-AC1D-A4F8-5AAD19072F3F}"/>
              </a:ext>
            </a:extLst>
          </p:cNvPr>
          <p:cNvSpPr>
            <a:spLocks noGrp="1"/>
          </p:cNvSpPr>
          <p:nvPr>
            <p:ph type="title"/>
          </p:nvPr>
        </p:nvSpPr>
        <p:spPr>
          <a:xfrm>
            <a:off x="1143000" y="609600"/>
            <a:ext cx="10439400" cy="1356360"/>
          </a:xfrm>
        </p:spPr>
        <p:txBody>
          <a:bodyPr/>
          <a:lstStyle/>
          <a:p>
            <a:r>
              <a:rPr lang="en-US" b="1" dirty="0"/>
              <a:t>Principles of Data-Driven Decision Making</a:t>
            </a:r>
            <a:endParaRPr lang="en-IN" b="1" dirty="0"/>
          </a:p>
        </p:txBody>
      </p:sp>
      <p:sp>
        <p:nvSpPr>
          <p:cNvPr id="3" name="Content Placeholder 2">
            <a:extLst>
              <a:ext uri="{FF2B5EF4-FFF2-40B4-BE49-F238E27FC236}">
                <a16:creationId xmlns:a16="http://schemas.microsoft.com/office/drawing/2014/main" id="{8594E8D4-59BB-2CEF-4839-70F5276AFEF6}"/>
              </a:ext>
            </a:extLst>
          </p:cNvPr>
          <p:cNvSpPr>
            <a:spLocks noGrp="1"/>
          </p:cNvSpPr>
          <p:nvPr>
            <p:ph idx="1"/>
          </p:nvPr>
        </p:nvSpPr>
        <p:spPr/>
        <p:txBody>
          <a:bodyPr anchor="ctr"/>
          <a:lstStyle/>
          <a:p>
            <a:pPr marL="45720" indent="0">
              <a:buNone/>
            </a:pPr>
            <a:r>
              <a:rPr lang="en-US" b="1" dirty="0"/>
              <a:t>Principles of Data-Driven Decision Making</a:t>
            </a:r>
            <a:r>
              <a:rPr lang="en-US" dirty="0"/>
              <a:t> focus on using data rather than assumptions.</a:t>
            </a:r>
          </a:p>
          <a:p>
            <a:r>
              <a:rPr lang="en-US" b="1" dirty="0"/>
              <a:t>Decisions based on facts:</a:t>
            </a:r>
            <a:r>
              <a:rPr lang="en-US" dirty="0"/>
              <a:t> Choices are made using reliable data instead of intuition or guesswork.</a:t>
            </a:r>
          </a:p>
          <a:p>
            <a:r>
              <a:rPr lang="en-US" b="1" dirty="0"/>
              <a:t>Use of analytics:</a:t>
            </a:r>
            <a:r>
              <a:rPr lang="en-US" dirty="0"/>
              <a:t> Data analysis tools and techniques are used to identify patterns, trends, and insights.</a:t>
            </a:r>
          </a:p>
          <a:p>
            <a:r>
              <a:rPr lang="en-US" b="1" dirty="0"/>
              <a:t>Objective decision-making:</a:t>
            </a:r>
            <a:r>
              <a:rPr lang="en-US" dirty="0"/>
              <a:t> Decisions are unbiased, consistent, and supported by evidence.</a:t>
            </a:r>
          </a:p>
          <a:p>
            <a:pPr marL="45720" indent="0">
              <a:buNone/>
            </a:pPr>
            <a:r>
              <a:rPr lang="en-US" dirty="0"/>
              <a:t>This approach leads to more accurate and effective business decisions.</a:t>
            </a:r>
          </a:p>
        </p:txBody>
      </p:sp>
    </p:spTree>
    <p:extLst>
      <p:ext uri="{BB962C8B-B14F-4D97-AF65-F5344CB8AC3E}">
        <p14:creationId xmlns:p14="http://schemas.microsoft.com/office/powerpoint/2010/main" val="352741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03A5F-A3CF-F6F8-45B4-199A29207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65796-A632-966C-1A2F-D86A91435331}"/>
              </a:ext>
            </a:extLst>
          </p:cNvPr>
          <p:cNvSpPr>
            <a:spLocks noGrp="1"/>
          </p:cNvSpPr>
          <p:nvPr>
            <p:ph type="title"/>
          </p:nvPr>
        </p:nvSpPr>
        <p:spPr/>
        <p:txBody>
          <a:bodyPr/>
          <a:lstStyle/>
          <a:p>
            <a:r>
              <a:rPr lang="en-US" b="1" dirty="0"/>
              <a:t>Benefits of Using Data for Decisions</a:t>
            </a:r>
            <a:endParaRPr lang="en-IN" b="1" dirty="0"/>
          </a:p>
        </p:txBody>
      </p:sp>
      <p:sp>
        <p:nvSpPr>
          <p:cNvPr id="3" name="Content Placeholder 2">
            <a:extLst>
              <a:ext uri="{FF2B5EF4-FFF2-40B4-BE49-F238E27FC236}">
                <a16:creationId xmlns:a16="http://schemas.microsoft.com/office/drawing/2014/main" id="{4DC3C66C-DA8C-1A74-7E65-286060F1EFB1}"/>
              </a:ext>
            </a:extLst>
          </p:cNvPr>
          <p:cNvSpPr>
            <a:spLocks noGrp="1"/>
          </p:cNvSpPr>
          <p:nvPr>
            <p:ph idx="1"/>
          </p:nvPr>
        </p:nvSpPr>
        <p:spPr/>
        <p:txBody>
          <a:bodyPr anchor="ctr"/>
          <a:lstStyle/>
          <a:p>
            <a:r>
              <a:rPr lang="en-US" b="1" dirty="0"/>
              <a:t>Improved accuracy:</a:t>
            </a:r>
            <a:r>
              <a:rPr lang="en-US" dirty="0"/>
              <a:t> Decisions are based on facts and evidence rather than assumptions.</a:t>
            </a:r>
          </a:p>
          <a:p>
            <a:r>
              <a:rPr lang="en-US" b="1" dirty="0"/>
              <a:t>Reduced risk:</a:t>
            </a:r>
            <a:r>
              <a:rPr lang="en-US" dirty="0"/>
              <a:t> Data helps identify potential problems and uncertainties early.</a:t>
            </a:r>
          </a:p>
          <a:p>
            <a:r>
              <a:rPr lang="en-US" b="1" dirty="0"/>
              <a:t>Better efficiency:</a:t>
            </a:r>
            <a:r>
              <a:rPr lang="en-US" dirty="0"/>
              <a:t> Resources are used more effectively based on insights.</a:t>
            </a:r>
          </a:p>
          <a:p>
            <a:r>
              <a:rPr lang="en-US" b="1" dirty="0"/>
              <a:t>Enhanced strategic planning:</a:t>
            </a:r>
            <a:r>
              <a:rPr lang="en-US" dirty="0"/>
              <a:t> Supports long-term planning and goal setting.</a:t>
            </a:r>
          </a:p>
          <a:p>
            <a:r>
              <a:rPr lang="en-US" b="1" dirty="0"/>
              <a:t>Competitive advantage:</a:t>
            </a:r>
            <a:r>
              <a:rPr lang="en-US" dirty="0"/>
              <a:t> Helps organizations respond quickly to market changes and customer needs.</a:t>
            </a:r>
          </a:p>
        </p:txBody>
      </p:sp>
    </p:spTree>
    <p:extLst>
      <p:ext uri="{BB962C8B-B14F-4D97-AF65-F5344CB8AC3E}">
        <p14:creationId xmlns:p14="http://schemas.microsoft.com/office/powerpoint/2010/main" val="2875044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7ECED-A145-7D5B-BA80-B181E9AA2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31066-46C6-4CE6-3385-4F2D865F1989}"/>
              </a:ext>
            </a:extLst>
          </p:cNvPr>
          <p:cNvSpPr>
            <a:spLocks noGrp="1"/>
          </p:cNvSpPr>
          <p:nvPr>
            <p:ph type="title"/>
          </p:nvPr>
        </p:nvSpPr>
        <p:spPr/>
        <p:txBody>
          <a:bodyPr/>
          <a:lstStyle/>
          <a:p>
            <a:r>
              <a:rPr lang="en-IN" b="1" dirty="0"/>
              <a:t>Steps in Data-Driven Decision Process</a:t>
            </a:r>
          </a:p>
        </p:txBody>
      </p:sp>
      <p:sp>
        <p:nvSpPr>
          <p:cNvPr id="3" name="Content Placeholder 2">
            <a:extLst>
              <a:ext uri="{FF2B5EF4-FFF2-40B4-BE49-F238E27FC236}">
                <a16:creationId xmlns:a16="http://schemas.microsoft.com/office/drawing/2014/main" id="{CDFB6879-26E2-B75A-98E0-A9142E398608}"/>
              </a:ext>
            </a:extLst>
          </p:cNvPr>
          <p:cNvSpPr>
            <a:spLocks noGrp="1"/>
          </p:cNvSpPr>
          <p:nvPr>
            <p:ph idx="1"/>
          </p:nvPr>
        </p:nvSpPr>
        <p:spPr/>
        <p:txBody>
          <a:bodyPr anchor="ctr"/>
          <a:lstStyle/>
          <a:p>
            <a:r>
              <a:rPr lang="en-US" b="1" dirty="0"/>
              <a:t>Define the problem:</a:t>
            </a:r>
            <a:r>
              <a:rPr lang="en-US" dirty="0"/>
              <a:t> Clearly identify the issue or goal that needs a decision.</a:t>
            </a:r>
          </a:p>
          <a:p>
            <a:r>
              <a:rPr lang="en-US" b="1" dirty="0"/>
              <a:t>Collect data:</a:t>
            </a:r>
            <a:r>
              <a:rPr lang="en-US" dirty="0"/>
              <a:t> Gather relevant and reliable data related to the problem.</a:t>
            </a:r>
          </a:p>
          <a:p>
            <a:r>
              <a:rPr lang="en-US" b="1" dirty="0"/>
              <a:t>Analyze data:</a:t>
            </a:r>
            <a:r>
              <a:rPr lang="en-US" dirty="0"/>
              <a:t> Examine and interpret the data to find patterns and insights.</a:t>
            </a:r>
          </a:p>
          <a:p>
            <a:r>
              <a:rPr lang="en-US" b="1" dirty="0"/>
              <a:t>Take action:</a:t>
            </a:r>
            <a:r>
              <a:rPr lang="en-US" dirty="0"/>
              <a:t> Make informed decisions and implement solutions based on the analysis.</a:t>
            </a:r>
          </a:p>
        </p:txBody>
      </p:sp>
    </p:spTree>
    <p:extLst>
      <p:ext uri="{BB962C8B-B14F-4D97-AF65-F5344CB8AC3E}">
        <p14:creationId xmlns:p14="http://schemas.microsoft.com/office/powerpoint/2010/main" val="286210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A1DD1-1A21-E74D-85C9-342D2BF57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B3C39-E2E9-10F3-3AA2-FD6F6C17A834}"/>
              </a:ext>
            </a:extLst>
          </p:cNvPr>
          <p:cNvSpPr>
            <a:spLocks noGrp="1"/>
          </p:cNvSpPr>
          <p:nvPr>
            <p:ph type="title"/>
          </p:nvPr>
        </p:nvSpPr>
        <p:spPr/>
        <p:txBody>
          <a:bodyPr/>
          <a:lstStyle/>
          <a:p>
            <a:r>
              <a:rPr lang="en-IN" b="1" dirty="0"/>
              <a:t>Challenges in Data-Driven Approaches</a:t>
            </a:r>
          </a:p>
        </p:txBody>
      </p:sp>
      <p:sp>
        <p:nvSpPr>
          <p:cNvPr id="3" name="Content Placeholder 2">
            <a:extLst>
              <a:ext uri="{FF2B5EF4-FFF2-40B4-BE49-F238E27FC236}">
                <a16:creationId xmlns:a16="http://schemas.microsoft.com/office/drawing/2014/main" id="{A279AEBB-CDE6-3EA8-6971-83E525A027ED}"/>
              </a:ext>
            </a:extLst>
          </p:cNvPr>
          <p:cNvSpPr>
            <a:spLocks noGrp="1"/>
          </p:cNvSpPr>
          <p:nvPr>
            <p:ph idx="1"/>
          </p:nvPr>
        </p:nvSpPr>
        <p:spPr/>
        <p:txBody>
          <a:bodyPr anchor="ctr"/>
          <a:lstStyle/>
          <a:p>
            <a:r>
              <a:rPr lang="en-US" b="1" dirty="0"/>
              <a:t>Poor data quality:</a:t>
            </a:r>
            <a:r>
              <a:rPr lang="en-US" dirty="0"/>
              <a:t> Inaccurate or incomplete data can lead to wrong decisions.</a:t>
            </a:r>
          </a:p>
          <a:p>
            <a:r>
              <a:rPr lang="en-US" b="1" dirty="0"/>
              <a:t>Data overload:</a:t>
            </a:r>
            <a:r>
              <a:rPr lang="en-US" dirty="0"/>
              <a:t> Too much data can make analysis complex and confusing.</a:t>
            </a:r>
          </a:p>
          <a:p>
            <a:r>
              <a:rPr lang="en-US" b="1" dirty="0"/>
              <a:t>Lack of skilled personnel:</a:t>
            </a:r>
            <a:r>
              <a:rPr lang="en-US" dirty="0"/>
              <a:t> Insufficient expertise in data analysis and interpretation.</a:t>
            </a:r>
          </a:p>
          <a:p>
            <a:r>
              <a:rPr lang="en-US" b="1" dirty="0"/>
              <a:t>Data security and privacy issues:</a:t>
            </a:r>
            <a:r>
              <a:rPr lang="en-US" dirty="0"/>
              <a:t> Protecting sensitive information is critical.</a:t>
            </a:r>
          </a:p>
          <a:p>
            <a:r>
              <a:rPr lang="en-US" b="1" dirty="0"/>
              <a:t>Resistance to change:</a:t>
            </a:r>
            <a:r>
              <a:rPr lang="en-US" dirty="0"/>
              <a:t> Decision-makers may rely on intuition instead of data.</a:t>
            </a:r>
          </a:p>
        </p:txBody>
      </p:sp>
    </p:spTree>
    <p:extLst>
      <p:ext uri="{BB962C8B-B14F-4D97-AF65-F5344CB8AC3E}">
        <p14:creationId xmlns:p14="http://schemas.microsoft.com/office/powerpoint/2010/main" val="1303569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D0DC-BC92-C7CB-F674-42623A1BC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A95A1-602F-4346-F697-1521A6EB545B}"/>
              </a:ext>
            </a:extLst>
          </p:cNvPr>
          <p:cNvSpPr>
            <a:spLocks noGrp="1"/>
          </p:cNvSpPr>
          <p:nvPr>
            <p:ph type="title"/>
          </p:nvPr>
        </p:nvSpPr>
        <p:spPr/>
        <p:txBody>
          <a:bodyPr/>
          <a:lstStyle/>
          <a:p>
            <a:r>
              <a:rPr lang="en-IN" b="1" dirty="0"/>
              <a:t>Analysis of Business Scenarios</a:t>
            </a:r>
          </a:p>
        </p:txBody>
      </p:sp>
      <p:sp>
        <p:nvSpPr>
          <p:cNvPr id="3" name="Content Placeholder 2">
            <a:extLst>
              <a:ext uri="{FF2B5EF4-FFF2-40B4-BE49-F238E27FC236}">
                <a16:creationId xmlns:a16="http://schemas.microsoft.com/office/drawing/2014/main" id="{1CD00994-999E-1230-8695-2DE27D3017B9}"/>
              </a:ext>
            </a:extLst>
          </p:cNvPr>
          <p:cNvSpPr>
            <a:spLocks noGrp="1"/>
          </p:cNvSpPr>
          <p:nvPr>
            <p:ph idx="1"/>
          </p:nvPr>
        </p:nvSpPr>
        <p:spPr/>
        <p:txBody>
          <a:bodyPr anchor="ctr"/>
          <a:lstStyle/>
          <a:p>
            <a:r>
              <a:rPr lang="en-US" b="1" dirty="0"/>
              <a:t>Understanding the situation:</a:t>
            </a:r>
            <a:r>
              <a:rPr lang="en-US" dirty="0"/>
              <a:t> Identify the problem, objectives, and constraints.</a:t>
            </a:r>
          </a:p>
          <a:p>
            <a:r>
              <a:rPr lang="en-US" b="1" dirty="0"/>
              <a:t>Analyzing data and facts:</a:t>
            </a:r>
            <a:r>
              <a:rPr lang="en-US" dirty="0"/>
              <a:t> Use available data to evaluate the current state.</a:t>
            </a:r>
          </a:p>
          <a:p>
            <a:r>
              <a:rPr lang="en-US" b="1" dirty="0"/>
              <a:t>Evaluating alternatives:</a:t>
            </a:r>
            <a:r>
              <a:rPr lang="en-US" dirty="0"/>
              <a:t> Compare possible solutions and their impacts.</a:t>
            </a:r>
          </a:p>
          <a:p>
            <a:r>
              <a:rPr lang="en-US" b="1" dirty="0"/>
              <a:t>Making decisions:</a:t>
            </a:r>
            <a:r>
              <a:rPr lang="en-US" dirty="0"/>
              <a:t> Choose the best option based on analysis and business goals.</a:t>
            </a:r>
          </a:p>
          <a:p>
            <a:r>
              <a:rPr lang="en-US" b="1" dirty="0"/>
              <a:t>Reviewing outcomes:</a:t>
            </a:r>
            <a:r>
              <a:rPr lang="en-US" dirty="0"/>
              <a:t> Assess results to improve future decisions.</a:t>
            </a:r>
          </a:p>
          <a:p>
            <a:pPr marL="45720" indent="0">
              <a:buNone/>
            </a:pPr>
            <a:r>
              <a:rPr lang="en-US" dirty="0"/>
              <a:t>This helps organizations respond strategically to challenges and opportunities.</a:t>
            </a:r>
          </a:p>
        </p:txBody>
      </p:sp>
    </p:spTree>
    <p:extLst>
      <p:ext uri="{BB962C8B-B14F-4D97-AF65-F5344CB8AC3E}">
        <p14:creationId xmlns:p14="http://schemas.microsoft.com/office/powerpoint/2010/main" val="839551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9E48-9CC0-0413-AE09-A5C9F0630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9E818-F2F1-897B-DA76-BF502A7C89E1}"/>
              </a:ext>
            </a:extLst>
          </p:cNvPr>
          <p:cNvSpPr>
            <a:spLocks noGrp="1"/>
          </p:cNvSpPr>
          <p:nvPr>
            <p:ph type="title"/>
          </p:nvPr>
        </p:nvSpPr>
        <p:spPr/>
        <p:txBody>
          <a:bodyPr/>
          <a:lstStyle/>
          <a:p>
            <a:r>
              <a:rPr lang="en-IN" b="1" dirty="0"/>
              <a:t>What is Data Governance?</a:t>
            </a:r>
          </a:p>
        </p:txBody>
      </p:sp>
      <p:sp>
        <p:nvSpPr>
          <p:cNvPr id="3" name="Content Placeholder 2">
            <a:extLst>
              <a:ext uri="{FF2B5EF4-FFF2-40B4-BE49-F238E27FC236}">
                <a16:creationId xmlns:a16="http://schemas.microsoft.com/office/drawing/2014/main" id="{058A86DC-AA4F-4473-5C38-1D2936D401C6}"/>
              </a:ext>
            </a:extLst>
          </p:cNvPr>
          <p:cNvSpPr>
            <a:spLocks noGrp="1"/>
          </p:cNvSpPr>
          <p:nvPr>
            <p:ph idx="1"/>
          </p:nvPr>
        </p:nvSpPr>
        <p:spPr/>
        <p:txBody>
          <a:bodyPr anchor="ctr"/>
          <a:lstStyle/>
          <a:p>
            <a:pPr marL="45720" indent="0">
              <a:buNone/>
            </a:pPr>
            <a:r>
              <a:rPr lang="en-US" b="1" dirty="0"/>
              <a:t>Data Governance</a:t>
            </a:r>
            <a:r>
              <a:rPr lang="en-US" dirty="0"/>
              <a:t> is a framework that defines how data is managed and controlled within an organization.</a:t>
            </a:r>
          </a:p>
          <a:p>
            <a:r>
              <a:rPr lang="en-US" dirty="0"/>
              <a:t>It establishes </a:t>
            </a:r>
            <a:r>
              <a:rPr lang="en-US" b="1" dirty="0"/>
              <a:t>rules, policies, and responsibilities</a:t>
            </a:r>
            <a:r>
              <a:rPr lang="en-US" dirty="0"/>
              <a:t> for handling data.</a:t>
            </a:r>
          </a:p>
          <a:p>
            <a:r>
              <a:rPr lang="en-US" dirty="0"/>
              <a:t>Ensures </a:t>
            </a:r>
            <a:r>
              <a:rPr lang="en-US" b="1" dirty="0"/>
              <a:t>data quality</a:t>
            </a:r>
            <a:r>
              <a:rPr lang="en-US" dirty="0"/>
              <a:t>, so information is accurate and consistent.</a:t>
            </a:r>
          </a:p>
          <a:p>
            <a:r>
              <a:rPr lang="en-US" dirty="0"/>
              <a:t>Maintains </a:t>
            </a:r>
            <a:r>
              <a:rPr lang="en-US" b="1" dirty="0"/>
              <a:t>data security and privacy</a:t>
            </a:r>
            <a:r>
              <a:rPr lang="en-US" dirty="0"/>
              <a:t>, protecting sensitive data.</a:t>
            </a:r>
          </a:p>
          <a:p>
            <a:r>
              <a:rPr lang="en-US" dirty="0"/>
              <a:t>Ensures </a:t>
            </a:r>
            <a:r>
              <a:rPr lang="en-US" b="1" dirty="0"/>
              <a:t>compliance</a:t>
            </a:r>
            <a:r>
              <a:rPr lang="en-US" dirty="0"/>
              <a:t> with laws, regulations, and standards.</a:t>
            </a:r>
          </a:p>
          <a:p>
            <a:pPr marL="45720" indent="0">
              <a:buNone/>
            </a:pPr>
            <a:r>
              <a:rPr lang="en-US" dirty="0"/>
              <a:t>In short, data governance ensures data is </a:t>
            </a:r>
            <a:r>
              <a:rPr lang="en-US" b="1" dirty="0"/>
              <a:t>reliable, secure, and properly used</a:t>
            </a:r>
            <a:r>
              <a:rPr lang="en-US" dirty="0"/>
              <a:t> across the organization.</a:t>
            </a:r>
          </a:p>
        </p:txBody>
      </p:sp>
    </p:spTree>
    <p:extLst>
      <p:ext uri="{BB962C8B-B14F-4D97-AF65-F5344CB8AC3E}">
        <p14:creationId xmlns:p14="http://schemas.microsoft.com/office/powerpoint/2010/main" val="4251545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3563-668F-7158-EC7D-5991F0AFD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EE218-F88E-F197-1105-BF0DB85B8779}"/>
              </a:ext>
            </a:extLst>
          </p:cNvPr>
          <p:cNvSpPr>
            <a:spLocks noGrp="1"/>
          </p:cNvSpPr>
          <p:nvPr>
            <p:ph type="title"/>
          </p:nvPr>
        </p:nvSpPr>
        <p:spPr/>
        <p:txBody>
          <a:bodyPr/>
          <a:lstStyle/>
          <a:p>
            <a:r>
              <a:rPr lang="en-IN" b="1" dirty="0"/>
              <a:t>Policies and Procedures</a:t>
            </a:r>
          </a:p>
        </p:txBody>
      </p:sp>
      <p:sp>
        <p:nvSpPr>
          <p:cNvPr id="3" name="Content Placeholder 2">
            <a:extLst>
              <a:ext uri="{FF2B5EF4-FFF2-40B4-BE49-F238E27FC236}">
                <a16:creationId xmlns:a16="http://schemas.microsoft.com/office/drawing/2014/main" id="{61EBE2CC-9512-3C84-4568-8FC30DE0435E}"/>
              </a:ext>
            </a:extLst>
          </p:cNvPr>
          <p:cNvSpPr>
            <a:spLocks noGrp="1"/>
          </p:cNvSpPr>
          <p:nvPr>
            <p:ph idx="1"/>
          </p:nvPr>
        </p:nvSpPr>
        <p:spPr/>
        <p:txBody>
          <a:bodyPr anchor="ctr"/>
          <a:lstStyle/>
          <a:p>
            <a:r>
              <a:rPr lang="en-US" b="1" dirty="0"/>
              <a:t>Data access rules:</a:t>
            </a:r>
            <a:r>
              <a:rPr lang="en-US" dirty="0"/>
              <a:t> Specify who can access data and at what level, ensuring only authorized users can view or modify it.</a:t>
            </a:r>
          </a:p>
          <a:p>
            <a:r>
              <a:rPr lang="en-US" b="1" dirty="0"/>
              <a:t>Data usage standards:</a:t>
            </a:r>
            <a:r>
              <a:rPr lang="en-US" dirty="0"/>
              <a:t> Define how data can be used, shared, and processed responsibly.</a:t>
            </a:r>
          </a:p>
          <a:p>
            <a:r>
              <a:rPr lang="en-US" b="1" dirty="0"/>
              <a:t>Security policies:</a:t>
            </a:r>
            <a:r>
              <a:rPr lang="en-US" dirty="0"/>
              <a:t> Establish measures to protect data from unauthorized access, breaches, and misuse.</a:t>
            </a:r>
          </a:p>
          <a:p>
            <a:pPr marL="45720" indent="0">
              <a:buNone/>
            </a:pPr>
            <a:r>
              <a:rPr lang="en-US" dirty="0"/>
              <a:t>These rules help maintain </a:t>
            </a:r>
            <a:r>
              <a:rPr lang="en-US" b="1" dirty="0"/>
              <a:t>data security, consistency, and compliance</a:t>
            </a:r>
            <a:r>
              <a:rPr lang="en-US" dirty="0"/>
              <a:t> within an organization.</a:t>
            </a:r>
          </a:p>
        </p:txBody>
      </p:sp>
    </p:spTree>
    <p:extLst>
      <p:ext uri="{BB962C8B-B14F-4D97-AF65-F5344CB8AC3E}">
        <p14:creationId xmlns:p14="http://schemas.microsoft.com/office/powerpoint/2010/main" val="613544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193F4-B418-0D6C-EA7D-E4E0B4336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24733-0193-3281-5FD4-99B66CBF2655}"/>
              </a:ext>
            </a:extLst>
          </p:cNvPr>
          <p:cNvSpPr>
            <a:spLocks noGrp="1"/>
          </p:cNvSpPr>
          <p:nvPr>
            <p:ph type="title"/>
          </p:nvPr>
        </p:nvSpPr>
        <p:spPr/>
        <p:txBody>
          <a:bodyPr/>
          <a:lstStyle/>
          <a:p>
            <a:r>
              <a:rPr lang="en-IN" b="1" dirty="0"/>
              <a:t>Roles and Responsibilities</a:t>
            </a:r>
          </a:p>
        </p:txBody>
      </p:sp>
      <p:sp>
        <p:nvSpPr>
          <p:cNvPr id="3" name="Content Placeholder 2">
            <a:extLst>
              <a:ext uri="{FF2B5EF4-FFF2-40B4-BE49-F238E27FC236}">
                <a16:creationId xmlns:a16="http://schemas.microsoft.com/office/drawing/2014/main" id="{AD7E0EAE-8DFB-BC0D-085B-79D0E4F1DE55}"/>
              </a:ext>
            </a:extLst>
          </p:cNvPr>
          <p:cNvSpPr>
            <a:spLocks noGrp="1"/>
          </p:cNvSpPr>
          <p:nvPr>
            <p:ph idx="1"/>
          </p:nvPr>
        </p:nvSpPr>
        <p:spPr/>
        <p:txBody>
          <a:bodyPr anchor="ctr"/>
          <a:lstStyle/>
          <a:p>
            <a:r>
              <a:rPr lang="en-US" b="1" dirty="0"/>
              <a:t>Data owners:</a:t>
            </a:r>
            <a:r>
              <a:rPr lang="en-US" dirty="0"/>
              <a:t> Responsible for data quality, security, and compliance; they make decisions about how data is used.</a:t>
            </a:r>
          </a:p>
          <a:p>
            <a:r>
              <a:rPr lang="en-US" b="1" dirty="0"/>
              <a:t>Data stewards:</a:t>
            </a:r>
            <a:r>
              <a:rPr lang="en-US" dirty="0"/>
              <a:t> Manage and maintain data on a day-to-day basis, ensuring accuracy, consistency, and proper handling.</a:t>
            </a:r>
          </a:p>
          <a:p>
            <a:r>
              <a:rPr lang="en-US" b="1" dirty="0"/>
              <a:t>Data users:</a:t>
            </a:r>
            <a:r>
              <a:rPr lang="en-US" dirty="0"/>
              <a:t> Use data for operations, analysis, and decision-making while following established policies and rules.</a:t>
            </a:r>
          </a:p>
          <a:p>
            <a:pPr marL="45720" indent="0">
              <a:buNone/>
            </a:pPr>
            <a:r>
              <a:rPr lang="en-US" dirty="0"/>
              <a:t>These roles ensure data is </a:t>
            </a:r>
            <a:r>
              <a:rPr lang="en-US" b="1" dirty="0"/>
              <a:t>well-managed and properly used</a:t>
            </a:r>
            <a:r>
              <a:rPr lang="en-US" dirty="0"/>
              <a:t> across the organization.</a:t>
            </a:r>
          </a:p>
        </p:txBody>
      </p:sp>
    </p:spTree>
    <p:extLst>
      <p:ext uri="{BB962C8B-B14F-4D97-AF65-F5344CB8AC3E}">
        <p14:creationId xmlns:p14="http://schemas.microsoft.com/office/powerpoint/2010/main" val="261699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CE99E-E502-5467-96F5-02DF6149D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0E123-894B-0AC6-6788-B8A6640CF9F2}"/>
              </a:ext>
            </a:extLst>
          </p:cNvPr>
          <p:cNvSpPr>
            <a:spLocks noGrp="1"/>
          </p:cNvSpPr>
          <p:nvPr>
            <p:ph type="title"/>
          </p:nvPr>
        </p:nvSpPr>
        <p:spPr/>
        <p:txBody>
          <a:bodyPr/>
          <a:lstStyle/>
          <a:p>
            <a:r>
              <a:rPr lang="en-IN" b="1" dirty="0"/>
              <a:t>Principles of Data Ethics</a:t>
            </a:r>
          </a:p>
        </p:txBody>
      </p:sp>
      <p:sp>
        <p:nvSpPr>
          <p:cNvPr id="3" name="Content Placeholder 2">
            <a:extLst>
              <a:ext uri="{FF2B5EF4-FFF2-40B4-BE49-F238E27FC236}">
                <a16:creationId xmlns:a16="http://schemas.microsoft.com/office/drawing/2014/main" id="{9F2DFE02-5A9F-87D7-9893-623F07831348}"/>
              </a:ext>
            </a:extLst>
          </p:cNvPr>
          <p:cNvSpPr>
            <a:spLocks noGrp="1"/>
          </p:cNvSpPr>
          <p:nvPr>
            <p:ph idx="1"/>
          </p:nvPr>
        </p:nvSpPr>
        <p:spPr/>
        <p:txBody>
          <a:bodyPr anchor="ctr"/>
          <a:lstStyle/>
          <a:p>
            <a:r>
              <a:rPr lang="en-US" b="1" dirty="0"/>
              <a:t>Fairness:</a:t>
            </a:r>
            <a:r>
              <a:rPr lang="en-US" dirty="0"/>
              <a:t> Data should be used without bias or discrimination.</a:t>
            </a:r>
          </a:p>
          <a:p>
            <a:r>
              <a:rPr lang="en-US" b="1" dirty="0"/>
              <a:t>Transparency:</a:t>
            </a:r>
            <a:r>
              <a:rPr lang="en-US" dirty="0"/>
              <a:t> Data collection and usage should be clear and understandable.</a:t>
            </a:r>
          </a:p>
          <a:p>
            <a:r>
              <a:rPr lang="en-US" b="1" dirty="0"/>
              <a:t>Privacy:</a:t>
            </a:r>
            <a:r>
              <a:rPr lang="en-US" dirty="0"/>
              <a:t> Personal and sensitive data must be protected.</a:t>
            </a:r>
          </a:p>
          <a:p>
            <a:r>
              <a:rPr lang="en-US" b="1" dirty="0"/>
              <a:t>Accountability:</a:t>
            </a:r>
            <a:r>
              <a:rPr lang="en-US" dirty="0"/>
              <a:t> Organizations must be responsible for how data is used.</a:t>
            </a:r>
          </a:p>
          <a:p>
            <a:r>
              <a:rPr lang="en-US" b="1" dirty="0"/>
              <a:t>Responsible use:</a:t>
            </a:r>
            <a:r>
              <a:rPr lang="en-US" dirty="0"/>
              <a:t> Data should be handled ethically and only for valid purposes.</a:t>
            </a:r>
          </a:p>
        </p:txBody>
      </p:sp>
    </p:spTree>
    <p:extLst>
      <p:ext uri="{BB962C8B-B14F-4D97-AF65-F5344CB8AC3E}">
        <p14:creationId xmlns:p14="http://schemas.microsoft.com/office/powerpoint/2010/main" val="3653395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662F-49FC-E124-E8C2-CD75086E6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A3100-65F7-6E70-0F8F-332A0251C34A}"/>
              </a:ext>
            </a:extLst>
          </p:cNvPr>
          <p:cNvSpPr>
            <a:spLocks noGrp="1"/>
          </p:cNvSpPr>
          <p:nvPr>
            <p:ph type="title"/>
          </p:nvPr>
        </p:nvSpPr>
        <p:spPr/>
        <p:txBody>
          <a:bodyPr/>
          <a:lstStyle/>
          <a:p>
            <a:r>
              <a:rPr lang="en-IN" b="1" dirty="0"/>
              <a:t>Privacy and Confidentiality</a:t>
            </a:r>
          </a:p>
        </p:txBody>
      </p:sp>
      <p:sp>
        <p:nvSpPr>
          <p:cNvPr id="3" name="Content Placeholder 2">
            <a:extLst>
              <a:ext uri="{FF2B5EF4-FFF2-40B4-BE49-F238E27FC236}">
                <a16:creationId xmlns:a16="http://schemas.microsoft.com/office/drawing/2014/main" id="{6F4218BB-8372-CBFB-DA17-E072F73F6F54}"/>
              </a:ext>
            </a:extLst>
          </p:cNvPr>
          <p:cNvSpPr>
            <a:spLocks noGrp="1"/>
          </p:cNvSpPr>
          <p:nvPr>
            <p:ph idx="1"/>
          </p:nvPr>
        </p:nvSpPr>
        <p:spPr/>
        <p:txBody>
          <a:bodyPr anchor="ctr"/>
          <a:lstStyle/>
          <a:p>
            <a:pPr marL="45720" indent="0">
              <a:buNone/>
            </a:pPr>
            <a:r>
              <a:rPr lang="en-US" b="1" dirty="0"/>
              <a:t>Privacy:</a:t>
            </a:r>
            <a:r>
              <a:rPr lang="en-US" dirty="0"/>
              <a:t> Ensures that personal data is collected, used, and shared only with proper consent and for legitimate purposes.</a:t>
            </a:r>
          </a:p>
          <a:p>
            <a:pPr marL="45720" indent="0">
              <a:buNone/>
            </a:pPr>
            <a:r>
              <a:rPr lang="en-US" b="1" dirty="0"/>
              <a:t>Confidentiality:</a:t>
            </a:r>
            <a:r>
              <a:rPr lang="en-US" dirty="0"/>
              <a:t> Ensures that sensitive information is protected from unauthorized access and is shared only with authorized individuals.</a:t>
            </a:r>
          </a:p>
          <a:p>
            <a:pPr marL="45720" indent="0">
              <a:buNone/>
            </a:pPr>
            <a:r>
              <a:rPr lang="en-US" dirty="0"/>
              <a:t>Together, they help protect individuals’ rights and maintain trust in data handling practices.</a:t>
            </a:r>
          </a:p>
        </p:txBody>
      </p:sp>
    </p:spTree>
    <p:extLst>
      <p:ext uri="{BB962C8B-B14F-4D97-AF65-F5344CB8AC3E}">
        <p14:creationId xmlns:p14="http://schemas.microsoft.com/office/powerpoint/2010/main" val="2235442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533A6-25A4-CC86-8774-E17EE715B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7D61D-07EB-6876-A657-868B265A510F}"/>
              </a:ext>
            </a:extLst>
          </p:cNvPr>
          <p:cNvSpPr>
            <a:spLocks noGrp="1"/>
          </p:cNvSpPr>
          <p:nvPr>
            <p:ph type="title"/>
          </p:nvPr>
        </p:nvSpPr>
        <p:spPr>
          <a:xfrm>
            <a:off x="1261872" y="365760"/>
            <a:ext cx="9848580" cy="1325562"/>
          </a:xfrm>
        </p:spPr>
        <p:txBody>
          <a:bodyPr/>
          <a:lstStyle/>
          <a:p>
            <a:r>
              <a:rPr lang="en-IN" b="1" dirty="0"/>
              <a:t>Transparency and Accountability</a:t>
            </a:r>
          </a:p>
        </p:txBody>
      </p:sp>
      <p:sp>
        <p:nvSpPr>
          <p:cNvPr id="3" name="Content Placeholder 2">
            <a:extLst>
              <a:ext uri="{FF2B5EF4-FFF2-40B4-BE49-F238E27FC236}">
                <a16:creationId xmlns:a16="http://schemas.microsoft.com/office/drawing/2014/main" id="{AB2F54C0-19B1-9517-A748-8292E9661B56}"/>
              </a:ext>
            </a:extLst>
          </p:cNvPr>
          <p:cNvSpPr>
            <a:spLocks noGrp="1"/>
          </p:cNvSpPr>
          <p:nvPr>
            <p:ph idx="1"/>
          </p:nvPr>
        </p:nvSpPr>
        <p:spPr/>
        <p:txBody>
          <a:bodyPr anchor="ctr"/>
          <a:lstStyle/>
          <a:p>
            <a:pPr marL="0" indent="0">
              <a:buNone/>
            </a:pPr>
            <a:r>
              <a:rPr lang="en-US" b="1" dirty="0"/>
              <a:t>Transparency and Accountability</a:t>
            </a:r>
            <a:r>
              <a:rPr lang="en-US" dirty="0"/>
              <a:t> are essential principles of ethical data management.</a:t>
            </a:r>
          </a:p>
          <a:p>
            <a:r>
              <a:rPr lang="en-US" b="1" dirty="0"/>
              <a:t>Clear data usage policies:</a:t>
            </a:r>
            <a:br>
              <a:rPr lang="en-US" dirty="0"/>
            </a:br>
            <a:r>
              <a:rPr lang="en-US" dirty="0"/>
              <a:t>Organizations should clearly explain what data is collected, why it is collected, how it is used, who can access it, and how long it is stored. This openness helps users and stakeholders understand and trust data practices.</a:t>
            </a:r>
          </a:p>
          <a:p>
            <a:r>
              <a:rPr lang="en-US" b="1" dirty="0"/>
              <a:t>Accountability for misuse:</a:t>
            </a:r>
            <a:br>
              <a:rPr lang="en-US" dirty="0"/>
            </a:br>
            <a:r>
              <a:rPr lang="en-US" dirty="0"/>
              <a:t>Organizations and employees must take responsibility for improper or unethical use of data. This includes setting clear roles, monitoring data access, and taking corrective action if policies are violated.</a:t>
            </a:r>
          </a:p>
          <a:p>
            <a:pPr marL="0" indent="0">
              <a:buNone/>
            </a:pPr>
            <a:r>
              <a:rPr lang="en-US" dirty="0"/>
              <a:t>Together, transparency and accountability ensure </a:t>
            </a:r>
            <a:r>
              <a:rPr lang="en-US" b="1" dirty="0"/>
              <a:t>trust, fairness, and responsible handling of data</a:t>
            </a:r>
            <a:r>
              <a:rPr lang="en-US" dirty="0"/>
              <a:t>, while reducing the risk of misuse and legal issues.</a:t>
            </a:r>
          </a:p>
        </p:txBody>
      </p:sp>
    </p:spTree>
    <p:extLst>
      <p:ext uri="{BB962C8B-B14F-4D97-AF65-F5344CB8AC3E}">
        <p14:creationId xmlns:p14="http://schemas.microsoft.com/office/powerpoint/2010/main" val="4289166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48D81-F5A7-7331-C3FF-A3D6C6A93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A0E97-CA1A-77BE-D93E-6BAF0FCDF641}"/>
              </a:ext>
            </a:extLst>
          </p:cNvPr>
          <p:cNvSpPr>
            <a:spLocks noGrp="1"/>
          </p:cNvSpPr>
          <p:nvPr>
            <p:ph type="title"/>
          </p:nvPr>
        </p:nvSpPr>
        <p:spPr/>
        <p:txBody>
          <a:bodyPr/>
          <a:lstStyle/>
          <a:p>
            <a:r>
              <a:rPr lang="en-IN" b="1" dirty="0"/>
              <a:t>Regulatory Compliance</a:t>
            </a:r>
          </a:p>
        </p:txBody>
      </p:sp>
      <p:sp>
        <p:nvSpPr>
          <p:cNvPr id="3" name="Content Placeholder 2">
            <a:extLst>
              <a:ext uri="{FF2B5EF4-FFF2-40B4-BE49-F238E27FC236}">
                <a16:creationId xmlns:a16="http://schemas.microsoft.com/office/drawing/2014/main" id="{C2E38634-A2AF-A170-AF4C-1412AD24B867}"/>
              </a:ext>
            </a:extLst>
          </p:cNvPr>
          <p:cNvSpPr>
            <a:spLocks noGrp="1"/>
          </p:cNvSpPr>
          <p:nvPr>
            <p:ph idx="1"/>
          </p:nvPr>
        </p:nvSpPr>
        <p:spPr>
          <a:xfrm>
            <a:off x="1261872" y="1828800"/>
            <a:ext cx="9780502" cy="4432852"/>
          </a:xfrm>
        </p:spPr>
        <p:txBody>
          <a:bodyPr anchor="ctr">
            <a:normAutofit fontScale="92500" lnSpcReduction="10000"/>
          </a:bodyPr>
          <a:lstStyle/>
          <a:p>
            <a:pPr marL="0" indent="0">
              <a:buNone/>
            </a:pPr>
            <a:r>
              <a:rPr lang="en-US" b="1" dirty="0"/>
              <a:t>Regulatory Compliance</a:t>
            </a:r>
            <a:r>
              <a:rPr lang="en-US" dirty="0"/>
              <a:t> refers to following laws and regulations that govern how organizations collect, store, process, and share data—especially personal and sensitive information.</a:t>
            </a:r>
          </a:p>
          <a:p>
            <a:r>
              <a:rPr lang="en-US" b="1" dirty="0"/>
              <a:t>GDPR (General Data Protection Regulation):</a:t>
            </a:r>
            <a:br>
              <a:rPr lang="en-US" dirty="0"/>
            </a:br>
            <a:r>
              <a:rPr lang="en-US" dirty="0"/>
              <a:t>A European Union law that protects individuals’ personal data. It gives people rights such as access to their data, correction, deletion (right to be forgotten), and consent control. Organizations must ensure data security, transparency, and lawful processing.</a:t>
            </a:r>
          </a:p>
          <a:p>
            <a:r>
              <a:rPr lang="en-US" b="1" dirty="0"/>
              <a:t>CCPA (California Consumer Privacy Act):</a:t>
            </a:r>
            <a:br>
              <a:rPr lang="en-US" dirty="0"/>
            </a:br>
            <a:r>
              <a:rPr lang="en-US" dirty="0"/>
              <a:t>A U.S. law that gives California residents rights over their personal data. It allows consumers to know what data is collected, request deletion, and opt out of data selling. Businesses must clearly disclose their data practices.</a:t>
            </a:r>
          </a:p>
          <a:p>
            <a:r>
              <a:rPr lang="en-US" b="1" dirty="0"/>
              <a:t>Other data protection laws:</a:t>
            </a:r>
            <a:br>
              <a:rPr lang="en-US" dirty="0"/>
            </a:br>
            <a:r>
              <a:rPr lang="en-US" dirty="0"/>
              <a:t>Many countries have their own data protection regulations (such as India’s DPDP Act). These laws focus on privacy, data security, consent, and responsible data handling.</a:t>
            </a:r>
          </a:p>
          <a:p>
            <a:pPr marL="0" indent="0">
              <a:buNone/>
            </a:pPr>
            <a:r>
              <a:rPr lang="en-US" dirty="0"/>
              <a:t>Overall, regulatory compliance helps protect user privacy, builds trust, and prevents legal penalties for organizations.</a:t>
            </a:r>
          </a:p>
        </p:txBody>
      </p:sp>
    </p:spTree>
    <p:extLst>
      <p:ext uri="{BB962C8B-B14F-4D97-AF65-F5344CB8AC3E}">
        <p14:creationId xmlns:p14="http://schemas.microsoft.com/office/powerpoint/2010/main" val="4042354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7F31-6805-2968-67D1-893C8560F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0EFEA-DFDF-3F77-E15C-59A9D4AAD4DD}"/>
              </a:ext>
            </a:extLst>
          </p:cNvPr>
          <p:cNvSpPr>
            <a:spLocks noGrp="1"/>
          </p:cNvSpPr>
          <p:nvPr>
            <p:ph type="title"/>
          </p:nvPr>
        </p:nvSpPr>
        <p:spPr>
          <a:xfrm>
            <a:off x="1143000" y="609600"/>
            <a:ext cx="10527890" cy="1356360"/>
          </a:xfrm>
        </p:spPr>
        <p:txBody>
          <a:bodyPr/>
          <a:lstStyle/>
          <a:p>
            <a:r>
              <a:rPr lang="en-US" b="1" dirty="0"/>
              <a:t>Building a Culture of Responsible Data Use</a:t>
            </a:r>
            <a:endParaRPr lang="en-IN" b="1" dirty="0"/>
          </a:p>
        </p:txBody>
      </p:sp>
      <p:sp>
        <p:nvSpPr>
          <p:cNvPr id="3" name="Content Placeholder 2">
            <a:extLst>
              <a:ext uri="{FF2B5EF4-FFF2-40B4-BE49-F238E27FC236}">
                <a16:creationId xmlns:a16="http://schemas.microsoft.com/office/drawing/2014/main" id="{47AC99F7-8D61-08E6-EFB7-09ADB5C8DC60}"/>
              </a:ext>
            </a:extLst>
          </p:cNvPr>
          <p:cNvSpPr>
            <a:spLocks noGrp="1"/>
          </p:cNvSpPr>
          <p:nvPr>
            <p:ph idx="1"/>
          </p:nvPr>
        </p:nvSpPr>
        <p:spPr>
          <a:xfrm>
            <a:off x="1143000" y="1848465"/>
            <a:ext cx="9872871" cy="4581833"/>
          </a:xfrm>
        </p:spPr>
        <p:txBody>
          <a:bodyPr anchor="ctr">
            <a:normAutofit/>
          </a:bodyPr>
          <a:lstStyle/>
          <a:p>
            <a:pPr marL="45720" indent="0">
              <a:buNone/>
            </a:pPr>
            <a:r>
              <a:rPr lang="en-US" b="1" dirty="0"/>
              <a:t>Building a Culture of Responsible Data Use</a:t>
            </a:r>
            <a:r>
              <a:rPr lang="en-US" dirty="0"/>
              <a:t> means ensuring that everyone in an organization handles data ethically, securely, and lawfully—not just following rules, but understanding </a:t>
            </a:r>
            <a:r>
              <a:rPr lang="en-US" i="1" dirty="0"/>
              <a:t>why</a:t>
            </a:r>
            <a:r>
              <a:rPr lang="en-US" dirty="0"/>
              <a:t> they matter.</a:t>
            </a:r>
          </a:p>
          <a:p>
            <a:r>
              <a:rPr lang="en-US" b="1" dirty="0"/>
              <a:t>Ethical awareness:</a:t>
            </a:r>
            <a:r>
              <a:rPr lang="en-US" dirty="0"/>
              <a:t> Promoting understanding of ethical data practices and responsible behavior.</a:t>
            </a:r>
          </a:p>
          <a:p>
            <a:r>
              <a:rPr lang="en-US" b="1" dirty="0"/>
              <a:t>Training and compliance:</a:t>
            </a:r>
            <a:r>
              <a:rPr lang="en-US" dirty="0"/>
              <a:t> Educating employees on data policies, laws, and proper data handling.</a:t>
            </a:r>
          </a:p>
          <a:p>
            <a:r>
              <a:rPr lang="en-US" b="1" dirty="0"/>
              <a:t>Continuous monitoring:</a:t>
            </a:r>
            <a:r>
              <a:rPr lang="en-US" dirty="0"/>
              <a:t> Regularly reviewing data practices to ensure compliance and address risks.</a:t>
            </a:r>
          </a:p>
          <a:p>
            <a:pPr marL="45720" indent="0">
              <a:buNone/>
            </a:pPr>
            <a:r>
              <a:rPr lang="en-US" dirty="0"/>
              <a:t>This culture helps organizations use data </a:t>
            </a:r>
            <a:r>
              <a:rPr lang="en-US" b="1" dirty="0"/>
              <a:t>safely, ethically, and effectively</a:t>
            </a:r>
            <a:r>
              <a:rPr lang="en-US" dirty="0"/>
              <a:t>.</a:t>
            </a:r>
          </a:p>
        </p:txBody>
      </p:sp>
    </p:spTree>
    <p:extLst>
      <p:ext uri="{BB962C8B-B14F-4D97-AF65-F5344CB8AC3E}">
        <p14:creationId xmlns:p14="http://schemas.microsoft.com/office/powerpoint/2010/main" val="2599914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A06F6-1B28-8046-D1C9-5A8526485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36714-9B8F-0D3D-C313-4A579B509610}"/>
              </a:ext>
            </a:extLst>
          </p:cNvPr>
          <p:cNvSpPr>
            <a:spLocks noGrp="1"/>
          </p:cNvSpPr>
          <p:nvPr>
            <p:ph type="title"/>
          </p:nvPr>
        </p:nvSpPr>
        <p:spPr>
          <a:xfrm>
            <a:off x="1143000" y="609600"/>
            <a:ext cx="10527890" cy="1356360"/>
          </a:xfrm>
        </p:spPr>
        <p:txBody>
          <a:bodyPr/>
          <a:lstStyle/>
          <a:p>
            <a:r>
              <a:rPr lang="en-IN" b="1" dirty="0"/>
              <a:t>Conclusion</a:t>
            </a:r>
          </a:p>
        </p:txBody>
      </p:sp>
      <p:sp>
        <p:nvSpPr>
          <p:cNvPr id="3" name="Content Placeholder 2">
            <a:extLst>
              <a:ext uri="{FF2B5EF4-FFF2-40B4-BE49-F238E27FC236}">
                <a16:creationId xmlns:a16="http://schemas.microsoft.com/office/drawing/2014/main" id="{0A2C18A2-4FED-5EA8-18E7-4CB017A133FB}"/>
              </a:ext>
            </a:extLst>
          </p:cNvPr>
          <p:cNvSpPr>
            <a:spLocks noGrp="1"/>
          </p:cNvSpPr>
          <p:nvPr>
            <p:ph idx="1"/>
          </p:nvPr>
        </p:nvSpPr>
        <p:spPr>
          <a:xfrm>
            <a:off x="1143001" y="1848465"/>
            <a:ext cx="9442174" cy="4581833"/>
          </a:xfrm>
        </p:spPr>
        <p:txBody>
          <a:bodyPr anchor="ctr">
            <a:normAutofit/>
          </a:bodyPr>
          <a:lstStyle/>
          <a:p>
            <a:pPr marL="45720" indent="0" algn="just">
              <a:buNone/>
            </a:pPr>
            <a:r>
              <a:rPr lang="en-US" dirty="0"/>
              <a:t>IT and business systems help organizations manage and use data effectively. Data becomes valuable when it is processed into information and knowledge for decision-making. Data-driven approaches improve accuracy and planning, while data governance, ethics, and compliance ensure data is used securely, responsibly, and legally.</a:t>
            </a:r>
          </a:p>
        </p:txBody>
      </p:sp>
    </p:spTree>
    <p:extLst>
      <p:ext uri="{BB962C8B-B14F-4D97-AF65-F5344CB8AC3E}">
        <p14:creationId xmlns:p14="http://schemas.microsoft.com/office/powerpoint/2010/main" val="634369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9AA9A-FA5F-F52E-4952-21EEAC59C0F4}"/>
              </a:ext>
            </a:extLst>
          </p:cNvPr>
          <p:cNvSpPr>
            <a:spLocks noGrp="1"/>
          </p:cNvSpPr>
          <p:nvPr>
            <p:ph type="title"/>
          </p:nvPr>
        </p:nvSpPr>
        <p:spPr>
          <a:xfrm>
            <a:off x="1261872" y="2766219"/>
            <a:ext cx="8746832" cy="1325562"/>
          </a:xfrm>
        </p:spPr>
        <p:txBody>
          <a:bodyPr anchor="ctr"/>
          <a:lstStyle/>
          <a:p>
            <a:pPr algn="ctr"/>
            <a:r>
              <a:rPr lang="en-US" b="1" dirty="0"/>
              <a:t>Thank You</a:t>
            </a:r>
            <a:endParaRPr lang="en-IN" b="1" dirty="0"/>
          </a:p>
        </p:txBody>
      </p:sp>
    </p:spTree>
    <p:extLst>
      <p:ext uri="{BB962C8B-B14F-4D97-AF65-F5344CB8AC3E}">
        <p14:creationId xmlns:p14="http://schemas.microsoft.com/office/powerpoint/2010/main" val="186847683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555</TotalTime>
  <Words>2600</Words>
  <Application>Microsoft Office PowerPoint</Application>
  <PresentationFormat>Widescreen</PresentationFormat>
  <Paragraphs>228</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Century Schoolbook</vt:lpstr>
      <vt:lpstr>Wingdings 2</vt:lpstr>
      <vt:lpstr>View</vt:lpstr>
      <vt:lpstr>INFORMATION TECHNOLOGY</vt:lpstr>
      <vt:lpstr>What is Information Technology ?</vt:lpstr>
      <vt:lpstr>Role of IT in Business Operations</vt:lpstr>
      <vt:lpstr>Overview of Business Systems</vt:lpstr>
      <vt:lpstr>Interplay Between IT and Business Strategy</vt:lpstr>
      <vt:lpstr>Understanding Different Data Types</vt:lpstr>
      <vt:lpstr>Common Data Sources</vt:lpstr>
      <vt:lpstr>Data Collection Methods</vt:lpstr>
      <vt:lpstr>Data Lifecycle Management</vt:lpstr>
      <vt:lpstr>Data Quality and Integrity</vt:lpstr>
      <vt:lpstr>Business Analyst – Definition</vt:lpstr>
      <vt:lpstr>Responsibilities of a Business Analyst</vt:lpstr>
      <vt:lpstr>Key Skills for Business Analysts</vt:lpstr>
      <vt:lpstr>Business Analysis Methodologies</vt:lpstr>
      <vt:lpstr>Stakeholder Management</vt:lpstr>
      <vt:lpstr>Data vs Information</vt:lpstr>
      <vt:lpstr>Raw Data vs Processed Information</vt:lpstr>
      <vt:lpstr>Data, Information and Knowledge</vt:lpstr>
      <vt:lpstr>Value of Information in Decision Making</vt:lpstr>
      <vt:lpstr>Principles of Data-Driven Decision Making</vt:lpstr>
      <vt:lpstr>Benefits of Using Data for Decisions</vt:lpstr>
      <vt:lpstr>Steps in Data-Driven Decision Process</vt:lpstr>
      <vt:lpstr>Challenges in Data-Driven Approaches</vt:lpstr>
      <vt:lpstr>Analysis of Business Scenarios</vt:lpstr>
      <vt:lpstr>What is Data Governance?</vt:lpstr>
      <vt:lpstr>Policies and Procedures</vt:lpstr>
      <vt:lpstr>Roles and Responsibilities</vt:lpstr>
      <vt:lpstr>Principles of Data Ethics</vt:lpstr>
      <vt:lpstr>Privacy and Confidentiality</vt:lpstr>
      <vt:lpstr>Transparency and Accountability</vt:lpstr>
      <vt:lpstr>Regulatory Compliance</vt:lpstr>
      <vt:lpstr>Building a Culture of Responsible Data Use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Moumita Akhuli</dc:creator>
  <cp:lastModifiedBy>Moumita Akhuli</cp:lastModifiedBy>
  <cp:revision>8</cp:revision>
  <dcterms:created xsi:type="dcterms:W3CDTF">2026-01-09T18:45:35Z</dcterms:created>
  <dcterms:modified xsi:type="dcterms:W3CDTF">2026-01-12T14:16:18Z</dcterms:modified>
</cp:coreProperties>
</file>